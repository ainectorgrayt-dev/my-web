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69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36" y="-68"/>
      </p:cViewPr>
      <p:guideLst>
        <p:guide orient="horz" pos="213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875" y="96520"/>
            <a:ext cx="8464550" cy="2341880"/>
          </a:xfrm>
        </p:spPr>
        <p:txBody>
          <a:bodyPr>
            <a:noAutofit/>
          </a:bodyPr>
          <a:lstStyle/>
          <a:p>
            <a:pPr algn="ctr"/>
            <a:r>
              <a:rPr lang="en-US" altLang="en-GB" sz="3200" b="1" dirty="0" smtClean="0"/>
              <a:t>COURSE UNIT: MATHS IST 1106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SEMESTER:1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LECTURER: BYANSI DAVID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2026-GROUP: 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ASSIGNMENT .2</a:t>
            </a:r>
            <a:endParaRPr lang="en-US" sz="3200" dirty="0"/>
          </a:p>
        </p:txBody>
      </p:sp>
      <p:graphicFrame>
        <p:nvGraphicFramePr>
          <p:cNvPr id="7" name="Table 6"/>
          <p:cNvGraphicFramePr/>
          <p:nvPr/>
        </p:nvGraphicFramePr>
        <p:xfrm>
          <a:off x="306705" y="2615277"/>
          <a:ext cx="8533130" cy="3794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283710"/>
                <a:gridCol w="2124710"/>
                <a:gridCol w="212471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NAME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REGISTRATION NO.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STUDENT NO.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AINEBYONA VICTOR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26/U/04227/PSA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2600703692</a:t>
                      </a:r>
                      <a:endParaRPr lang="en-US" altLang="en-GB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ACHUDA FREDRICK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26/U/29544/PSA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2600729544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AKAMPURIRA IAN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26/U/03698/PS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dirty="0"/>
                        <a:t>2600703698</a:t>
                      </a:r>
                      <a:endParaRPr lang="en-US" altLang="en-GB" dirty="0"/>
                    </a:p>
                  </a:txBody>
                  <a:tcPr/>
                </a:tc>
              </a:tr>
              <a:tr h="164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MBABAALI EDRINE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KAKANDE UMAR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26/U/03831/PS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2600703831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ODOI VINCENT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26/U/04111/PSA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2600704111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KAWUMI JEREMY DAVID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26/U/03862/PS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2600703862</a:t>
                      </a:r>
                      <a:endParaRPr lang="en-GB" alt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PETO MICROS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26/U/04146/PSA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2600704146</a:t>
                      </a:r>
                      <a:endParaRPr lang="en-US" altLang="en-GB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dirty="0"/>
                        <a:t>ABOKU GEORGE PHILIP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dirty="0"/>
                        <a:t>26/U/03678/PSA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dirty="0"/>
                        <a:t>2600703678</a:t>
                      </a:r>
                      <a:endParaRPr lang="en-US" alt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Arial Black" panose="020B0A04020102020204" pitchFamily="34" charset="0"/>
              </a:rPr>
              <a:t>RATIOS AND PROPORTIONS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628775"/>
            <a:ext cx="8229600" cy="4926965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GB" sz="3600" u="sng" dirty="0" smtClean="0">
                <a:latin typeface="Arial Black" panose="020B0A04020102020204" pitchFamily="34" charset="0"/>
              </a:rPr>
              <a:t>Ratio</a:t>
            </a:r>
            <a:r>
              <a:rPr lang="en-GB" sz="3600" u="sng" dirty="0" smtClean="0"/>
              <a:t>;</a:t>
            </a:r>
            <a:r>
              <a:rPr lang="en-GB" sz="3600" dirty="0" smtClean="0"/>
              <a:t> a ratio is a mathematical comparison between two or more quantities to show how one much one is, compared to the other.</a:t>
            </a:r>
            <a:endParaRPr lang="en-GB" sz="3600" dirty="0" smtClean="0"/>
          </a:p>
          <a:p>
            <a:pPr marL="0" indent="0">
              <a:buNone/>
            </a:pPr>
            <a:r>
              <a:rPr lang="en-GB" sz="3600" b="1" u="sng" dirty="0" smtClean="0">
                <a:sym typeface="+mn-ea"/>
              </a:rPr>
              <a:t>For example</a:t>
            </a:r>
            <a:endParaRPr lang="en-GB" sz="3600" b="1" u="sng" dirty="0" smtClean="0">
              <a:sym typeface="+mn-ea"/>
            </a:endParaRPr>
          </a:p>
          <a:p>
            <a:pPr marL="0" indent="0">
              <a:buNone/>
            </a:pPr>
            <a:r>
              <a:rPr lang="en-GB" sz="3600" b="1" dirty="0" smtClean="0">
                <a:sym typeface="+mn-ea"/>
              </a:rPr>
              <a:t> </a:t>
            </a:r>
            <a:r>
              <a:rPr lang="en-US" altLang="en-GB" sz="3600" b="1" dirty="0" smtClean="0">
                <a:sym typeface="+mn-ea"/>
              </a:rPr>
              <a:t>T</a:t>
            </a:r>
            <a:r>
              <a:rPr lang="en-GB" sz="3600" b="1" dirty="0" smtClean="0">
                <a:sym typeface="+mn-ea"/>
              </a:rPr>
              <a:t>he ratio of boys and girls in a class of 120 students is 1:2   this means that in this class 1/3 of 120 students are boys and 2/3 of the 120 are boys.</a:t>
            </a:r>
            <a:endParaRPr lang="en-GB" sz="3600" b="1" dirty="0" smtClean="0"/>
          </a:p>
          <a:p>
            <a:pPr marL="0" indent="0">
              <a:buNone/>
            </a:pPr>
            <a:endParaRPr lang="en-GB" sz="3600" dirty="0" smtClean="0"/>
          </a:p>
          <a:p>
            <a:pPr marL="0" indent="0">
              <a:buNone/>
            </a:pPr>
            <a:r>
              <a:rPr lang="en-GB" sz="3600" u="sng" dirty="0" smtClean="0">
                <a:latin typeface="Arial Black" panose="020B0A04020102020204" pitchFamily="34" charset="0"/>
              </a:rPr>
              <a:t>Proportion</a:t>
            </a:r>
            <a:r>
              <a:rPr lang="en-GB" sz="3600" u="sng" dirty="0" smtClean="0"/>
              <a:t>;</a:t>
            </a:r>
            <a:r>
              <a:rPr lang="en-GB" sz="3600" dirty="0" smtClean="0"/>
              <a:t> this is a mathematical statement that shows a relationship between two or more quantities.</a:t>
            </a:r>
            <a:endParaRPr lang="en-GB" sz="3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400" b="1" u="sng"/>
              <a:t>TYPES OF PROPORTION</a:t>
            </a:r>
            <a:endParaRPr lang="en-US" altLang="en-GB" sz="4400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sz="4800"/>
              <a:t>Direct proportion</a:t>
            </a:r>
            <a:endParaRPr lang="en-US" altLang="en-GB" sz="4800"/>
          </a:p>
          <a:p>
            <a:pPr>
              <a:buFont typeface="Wingdings" panose="05000000000000000000" charset="0"/>
              <a:buChar char="Ø"/>
            </a:pPr>
            <a:r>
              <a:rPr lang="en-US" altLang="en-GB" sz="4800"/>
              <a:t>Indirect/</a:t>
            </a:r>
            <a:r>
              <a:rPr lang="en-US" altLang="en-GB" sz="4800">
                <a:sym typeface="+mn-ea"/>
              </a:rPr>
              <a:t>inverse </a:t>
            </a:r>
            <a:r>
              <a:rPr lang="en-US" altLang="en-GB" sz="4800"/>
              <a:t>proportion</a:t>
            </a:r>
            <a:endParaRPr lang="en-US" altLang="en-GB" sz="4800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4800" b="1" u="sng">
                <a:sym typeface="+mn-ea"/>
              </a:rPr>
              <a:t>Direct proportion</a:t>
            </a:r>
            <a:endParaRPr lang="en-US" altLang="en-GB" sz="4800" b="1" u="sng"/>
          </a:p>
          <a:p>
            <a:pPr marL="0" indent="0">
              <a:buFont typeface="Wingdings" panose="05000000000000000000" charset="0"/>
              <a:buNone/>
            </a:pPr>
            <a:r>
              <a:rPr lang="en-GB" sz="4800" dirty="0">
                <a:sym typeface="+mn-ea"/>
              </a:rPr>
              <a:t>I</a:t>
            </a:r>
            <a:r>
              <a:rPr lang="en-GB" sz="4000" dirty="0">
                <a:sym typeface="+mn-ea"/>
              </a:rPr>
              <a:t>n direct proportion an increase in one quantity leads to an increase in the other.</a:t>
            </a:r>
            <a:endParaRPr lang="en-GB" sz="40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4800"/>
              <a:t>  </a:t>
            </a:r>
            <a:endParaRPr lang="en-US" altLang="en-GB"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598420"/>
                <a:ext cx="8229600" cy="3843655"/>
              </a:xfrm>
            </p:spPr>
            <p:txBody>
              <a:bodyPr>
                <a:normAutofit fontScale="70000"/>
              </a:bodyPr>
              <a:lstStyle/>
              <a:p>
                <a:pPr marL="0" indent="0">
                  <a:buNone/>
                </a:pPr>
                <a:r>
                  <a:rPr lang="en-US" altLang="en-GB" sz="2600" b="1" dirty="0" smtClean="0"/>
                  <a:t> L</a:t>
                </a:r>
                <a:r>
                  <a:rPr lang="en-GB" sz="4000" dirty="0"/>
                  <a:t>et the litres of petrol used be </a:t>
                </a:r>
                <a:r>
                  <a:rPr lang="en-GB" sz="4000" b="1" dirty="0"/>
                  <a:t>y </a:t>
                </a:r>
                <a:r>
                  <a:rPr lang="en-GB" sz="4000" dirty="0"/>
                  <a:t>and kilometres be </a:t>
                </a:r>
                <a:r>
                  <a:rPr lang="en-GB" sz="4000" b="1" dirty="0"/>
                  <a:t>x, so y is directly proportional to x</a:t>
                </a:r>
                <a:endParaRPr lang="en-GB" sz="4000" b="1" dirty="0" smtClean="0"/>
              </a:p>
              <a:p>
                <a:pPr marL="0" indent="0" algn="ctr">
                  <a:buNone/>
                </a:pPr>
                <a:r>
                  <a:rPr lang="en-GB" b="1" dirty="0" smtClean="0">
                    <a:sym typeface="+mn-ea"/>
                  </a:rPr>
                  <a:t>   y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latin typeface="Cambria Math" panose="02040503050406030204"/>
                        <a:ea typeface="Cambria Math" panose="02040503050406030204"/>
                      </a:rPr>
                      <m:t>∝</m:t>
                    </m:r>
                  </m:oMath>
                </a14:m>
                <a:r>
                  <a:rPr lang="en-GB" b="1" dirty="0" smtClean="0">
                    <a:sym typeface="+mn-ea"/>
                  </a:rPr>
                  <a:t> x</a:t>
                </a:r>
                <a:endParaRPr lang="en-GB" b="1" dirty="0" smtClean="0"/>
              </a:p>
              <a:p>
                <a:pPr marL="0" indent="0" algn="ctr">
                  <a:buNone/>
                </a:pPr>
                <a:r>
                  <a:rPr lang="en-US" altLang="en-GB" b="1" dirty="0" smtClean="0">
                    <a:sym typeface="+mn-ea"/>
                  </a:rPr>
                  <a:t>y</a:t>
                </a:r>
                <a:r>
                  <a:rPr lang="en-GB" b="1" dirty="0" smtClean="0">
                    <a:sym typeface="+mn-ea"/>
                  </a:rPr>
                  <a:t>= kx</a:t>
                </a:r>
                <a:endParaRPr lang="en-GB" b="1" dirty="0" smtClean="0"/>
              </a:p>
              <a:p>
                <a:pPr marL="0" indent="0" algn="ctr">
                  <a:buNone/>
                </a:pPr>
                <a:r>
                  <a:rPr lang="en-GB" b="1" dirty="0" smtClean="0">
                    <a:sym typeface="+mn-ea"/>
                  </a:rPr>
                  <a:t>k=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b="1" i="1" dirty="0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dirty="0" smtClean="0">
                            <a:latin typeface="Cambria Math" panose="02040503050406030204"/>
                          </a:rPr>
                          <m:t>𝒚</m:t>
                        </m:r>
                      </m:num>
                      <m:den>
                        <m:r>
                          <a:rPr lang="en-GB" b="1" i="1" dirty="0" smtClean="0">
                            <a:latin typeface="Cambria Math" panose="02040503050406030204"/>
                          </a:rPr>
                          <m:t>𝒙</m:t>
                        </m:r>
                      </m:den>
                    </m:f>
                    <m:r>
                      <a:rPr lang="en-GB" b="1" i="1" dirty="0" smtClean="0">
                        <a:latin typeface="Cambria Math" panose="02040503050406030204"/>
                      </a:rPr>
                      <m:t> =  </m:t>
                    </m:r>
                    <m:f>
                      <m:fPr>
                        <m:type m:val="skw"/>
                        <m:ctrlPr>
                          <a:rPr lang="en-GB" b="1" i="1" dirty="0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dirty="0" smtClean="0">
                            <a:latin typeface="Cambria Math" panose="02040503050406030204"/>
                          </a:rPr>
                          <m:t>𝒚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num>
                      <m:den>
                        <m:r>
                          <a:rPr lang="en-GB" b="1" i="1" dirty="0" smtClean="0">
                            <a:latin typeface="Cambria Math" panose="02040503050406030204"/>
                          </a:rPr>
                          <m:t>𝒙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den>
                    </m:f>
                  </m:oMath>
                </a14:m>
                <a:endParaRPr lang="en-GB" b="1" dirty="0" smtClean="0"/>
              </a:p>
              <a:p>
                <a:pPr marL="0" indent="0" algn="ctr">
                  <a:buNone/>
                </a:pPr>
                <a:endParaRPr lang="en-GB" b="1" dirty="0" smtClean="0"/>
              </a:p>
              <a:p>
                <a:pPr marL="0" indent="0" algn="ctr">
                  <a:buNone/>
                </a:pPr>
                <a:r>
                  <a:rPr lang="en-GB" b="1" dirty="0" smtClean="0">
                    <a:sym typeface="+mn-ea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/>
                          </a:rPr>
                          <m:t>𝒚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b="1" i="1" dirty="0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dirty="0" smtClean="0">
                            <a:latin typeface="Cambria Math" panose="02040503050406030204"/>
                          </a:rPr>
                          <m:t>𝒚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num>
                      <m:den>
                        <m:r>
                          <a:rPr lang="en-GB" b="1" i="1" dirty="0" smtClean="0">
                            <a:latin typeface="Cambria Math" panose="02040503050406030204"/>
                          </a:rPr>
                          <m:t>𝒙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den>
                    </m:f>
                  </m:oMath>
                </a14:m>
                <a:endParaRPr lang="en-GB" b="1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598420"/>
                <a:ext cx="8229600" cy="3843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/>
          <p:nvPr>
            <p:ph type="title"/>
          </p:nvPr>
        </p:nvSpPr>
        <p:spPr>
          <a:xfrm>
            <a:off x="457200" y="274955"/>
            <a:ext cx="8229600" cy="2323465"/>
          </a:xfrm>
        </p:spPr>
        <p:txBody>
          <a:bodyPr/>
          <a:p>
            <a:r>
              <a:rPr lang="en-US" altLang="en-GB" dirty="0">
                <a:sym typeface="+mn-ea"/>
              </a:rPr>
              <a:t> </a:t>
            </a:r>
            <a:r>
              <a:rPr lang="en-GB" dirty="0">
                <a:sym typeface="+mn-ea"/>
              </a:rPr>
              <a:t>QN 1</a:t>
            </a:r>
            <a:r>
              <a:rPr lang="en-US" altLang="en-GB" dirty="0">
                <a:sym typeface="+mn-ea"/>
              </a:rPr>
              <a:t>.</a:t>
            </a:r>
            <a:r>
              <a:rPr lang="en-US" altLang="en-GB" b="1" dirty="0">
                <a:sym typeface="+mn-ea"/>
              </a:rPr>
              <a:t>A </a:t>
            </a:r>
            <a:r>
              <a:rPr lang="en-GB" b="1" dirty="0">
                <a:sym typeface="+mn-ea"/>
              </a:rPr>
              <a:t>car uses 12 litres of petrol to travel 180 kilometres. </a:t>
            </a:r>
            <a:r>
              <a:rPr lang="en-US" altLang="en-GB" b="1" dirty="0">
                <a:sym typeface="+mn-ea"/>
              </a:rPr>
              <a:t>H</a:t>
            </a:r>
            <a:r>
              <a:rPr lang="en-GB" b="1" dirty="0">
                <a:sym typeface="+mn-ea"/>
              </a:rPr>
              <a:t>ow many litres of petrol are needed to travel 300 kilometres</a:t>
            </a:r>
            <a:r>
              <a:rPr lang="en-GB" b="1" dirty="0" smtClean="0">
                <a:sym typeface="+mn-ea"/>
              </a:rPr>
              <a:t>.</a:t>
            </a:r>
            <a:r>
              <a:rPr lang="en-GB" b="1" dirty="0">
                <a:sym typeface="+mn-ea"/>
              </a:rPr>
              <a:t> </a:t>
            </a:r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40715"/>
                <a:ext cx="8229600" cy="5485765"/>
              </a:xfrm>
            </p:spPr>
            <p:txBody>
              <a:bodyPr/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y=12 x=180 x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=300 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=??</a:t>
                </a:r>
                <a:endParaRPr lang="en-US" altLang="en-GB" b="1" dirty="0" smtClean="0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GB"/>
                  <a:t>from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  <m:r>
                          <a:rPr lang="en-US" altLang="en-GB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en-GB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en-GB" b="1" dirty="0" smtClean="0">
                    <a:sym typeface="+mn-ea"/>
                  </a:rPr>
                  <a:t> </a:t>
                </a:r>
                <a:endParaRPr lang="en-US" altLang="en-GB" b="1" dirty="0" smtClean="0">
                  <a:sym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𝟏𝟐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𝟏𝟖𝟎</m:t>
                        </m:r>
                      </m:den>
                    </m:f>
                    <m:r>
                      <a:rPr lang="en-US" altLang="en-GB" b="1" i="1" dirty="0" smtClean="0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en-US" altLang="en-GB" b="1" dirty="0" smtClean="0">
                    <a:sym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  <m:r>
                          <a:rPr lang="en-US" altLang="en-GB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𝟑𝟎𝟎</m:t>
                        </m:r>
                      </m:den>
                    </m:f>
                  </m:oMath>
                </a14:m>
                <a:endParaRPr lang="en-US" altLang="en-GB" b="1" i="1" dirty="0" smtClean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180 x 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 = 12 x 300</a:t>
                </a:r>
                <a:endParaRPr lang="en-GB" b="1" dirty="0" smtClean="0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𝟏𝟐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𝟑𝟎𝟎</m:t>
                        </m:r>
                      </m:num>
                      <m:den>
                        <m:r>
                          <a:rPr lang="en-US" altLang="en-GB" sz="4800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𝟏𝟖𝟎</m:t>
                        </m:r>
                      </m:den>
                    </m:f>
                  </m:oMath>
                </a14:m>
                <a:endParaRPr lang="en-US" altLang="en-GB" sz="4800" b="1" i="1" baseline="-25000" dirty="0" smtClean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 = 20</a:t>
                </a:r>
                <a:endParaRPr lang="en-US" altLang="en-GB" b="1" dirty="0" smtClean="0"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∴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𝑻𝒉𝒆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𝒄𝒂𝒓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𝒖𝒔𝒆𝒔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𝟐𝟎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𝒍𝒊𝒕𝒓𝒆𝒔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𝒇𝒐𝒓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𝟑𝟎𝟎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𝒌𝒎</m:t>
                      </m:r>
                    </m:oMath>
                  </m:oMathPara>
                </a14:m>
                <a:endParaRPr lang="en-US" altLang="en-GB" b="1" dirty="0" smtClean="0">
                  <a:sym typeface="+mn-ea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40715"/>
                <a:ext cx="8229600" cy="548576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sz="3600" dirty="0" smtClean="0"/>
            </a:br>
            <a:r>
              <a:rPr lang="en-GB" sz="3600" dirty="0" err="1" smtClean="0"/>
              <a:t>Qn</a:t>
            </a:r>
            <a:r>
              <a:rPr lang="en-GB" sz="3600" dirty="0" smtClean="0"/>
              <a:t> 2.</a:t>
            </a:r>
            <a:r>
              <a:rPr lang="en-GB" sz="3600" dirty="0"/>
              <a:t> </a:t>
            </a:r>
            <a:r>
              <a:rPr lang="en-GB" sz="3600" dirty="0">
                <a:latin typeface="Arial Black" panose="020B0A04020102020204" pitchFamily="34" charset="0"/>
              </a:rPr>
              <a:t>If 5 kilograms of rice cost </a:t>
            </a:r>
            <a:r>
              <a:rPr lang="en-GB" sz="3600" dirty="0" err="1">
                <a:latin typeface="Arial Black" panose="020B0A04020102020204" pitchFamily="34" charset="0"/>
              </a:rPr>
              <a:t>UgX</a:t>
            </a:r>
            <a:r>
              <a:rPr lang="en-GB" sz="3600" dirty="0">
                <a:latin typeface="Arial Black" panose="020B0A04020102020204" pitchFamily="34" charset="0"/>
              </a:rPr>
              <a:t> 22,500 how much will8kg cost?</a:t>
            </a:r>
            <a:br>
              <a:rPr lang="en-GB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800" dirty="0" smtClean="0"/>
              <a:t> L</a:t>
            </a:r>
            <a:r>
              <a:rPr lang="en-GB" sz="2800" b="1" dirty="0" smtClean="0"/>
              <a:t>et y represent kilograms of rice and x represent cost.</a:t>
            </a:r>
            <a:endParaRPr lang="en-GB" sz="2800" b="1" dirty="0" smtClean="0"/>
          </a:p>
          <a:p>
            <a:pPr marL="0" indent="0">
              <a:buNone/>
            </a:pPr>
            <a:r>
              <a:rPr lang="en-US" altLang="en-GB" sz="2800" dirty="0" smtClean="0"/>
              <a:t> </a:t>
            </a:r>
            <a:r>
              <a:rPr lang="en-GB" sz="2800" b="1" dirty="0" smtClean="0"/>
              <a:t>y= 5kg, x=ugx22,500 and y</a:t>
            </a:r>
            <a:r>
              <a:rPr lang="en-US" altLang="en-GB" sz="2800" b="1" baseline="-25000" dirty="0" smtClean="0"/>
              <a:t>1</a:t>
            </a:r>
            <a:r>
              <a:rPr lang="en-GB" sz="2800" b="1" dirty="0" smtClean="0"/>
              <a:t>= 8kg, x</a:t>
            </a:r>
            <a:r>
              <a:rPr lang="en-GB" sz="2800" b="1" baseline="-25000" dirty="0" smtClean="0"/>
              <a:t>1</a:t>
            </a:r>
            <a:r>
              <a:rPr lang="en-GB" sz="2800" b="1" dirty="0" smtClean="0"/>
              <a:t>= ??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y/x  =  y</a:t>
            </a:r>
            <a:r>
              <a:rPr lang="en-GB" sz="2800" b="1" baseline="-25000" dirty="0" smtClean="0"/>
              <a:t>1</a:t>
            </a:r>
            <a:r>
              <a:rPr lang="en-GB" sz="2800" b="1" dirty="0" smtClean="0"/>
              <a:t>/x</a:t>
            </a:r>
            <a:r>
              <a:rPr lang="en-GB" sz="2800" b="1" baseline="-25000" dirty="0" smtClean="0"/>
              <a:t>1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5</a:t>
            </a:r>
            <a:r>
              <a:rPr lang="en-US" altLang="en-GB" sz="2800" b="1" dirty="0" smtClean="0"/>
              <a:t> </a:t>
            </a:r>
            <a:r>
              <a:rPr lang="en-GB" b="1" dirty="0" smtClean="0"/>
              <a:t>/</a:t>
            </a:r>
            <a:r>
              <a:rPr lang="en-GB" sz="2800" b="1" dirty="0" smtClean="0"/>
              <a:t>22500  =  8 / x</a:t>
            </a:r>
            <a:r>
              <a:rPr lang="en-GB" sz="2800" b="1" baseline="-25000" dirty="0" smtClean="0"/>
              <a:t>1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x</a:t>
            </a:r>
            <a:r>
              <a:rPr lang="en-GB" sz="2800" b="1" baseline="-25000" dirty="0" smtClean="0"/>
              <a:t>1</a:t>
            </a:r>
            <a:r>
              <a:rPr lang="en-GB" sz="2800" b="1" dirty="0" smtClean="0"/>
              <a:t>=   8×22500</a:t>
            </a:r>
            <a:r>
              <a:rPr lang="en-GB" sz="3600" b="1" dirty="0" smtClean="0"/>
              <a:t> </a:t>
            </a:r>
            <a:r>
              <a:rPr lang="en-GB" b="1" dirty="0" smtClean="0"/>
              <a:t>/</a:t>
            </a:r>
            <a:r>
              <a:rPr lang="en-GB" sz="2800" b="1" dirty="0" smtClean="0"/>
              <a:t>5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x1= 36000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marL="0" indent="0">
              <a:buNone/>
            </a:pPr>
            <a:r>
              <a:rPr lang="en-GB" sz="2800" b="1" dirty="0" smtClean="0"/>
              <a:t>Therefore 8kg cost </a:t>
            </a:r>
            <a:r>
              <a:rPr lang="en-GB" sz="2800" b="1" dirty="0" err="1" smtClean="0"/>
              <a:t>ugx</a:t>
            </a:r>
            <a:r>
              <a:rPr lang="en-GB" sz="2800" b="1" dirty="0" smtClean="0"/>
              <a:t> 36,000</a:t>
            </a:r>
            <a:endParaRPr lang="en-GB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325245"/>
          </a:xfrm>
        </p:spPr>
        <p:txBody>
          <a:bodyPr>
            <a:noAutofit/>
          </a:bodyPr>
          <a:lstStyle/>
          <a:p>
            <a:br>
              <a:rPr lang="en-GB" sz="3200" dirty="0" smtClean="0"/>
            </a:br>
            <a:r>
              <a:rPr lang="en-GB" sz="3200" b="1" dirty="0" err="1" smtClean="0"/>
              <a:t>Qn</a:t>
            </a:r>
            <a:r>
              <a:rPr lang="en-GB" sz="3200" b="1" dirty="0" smtClean="0"/>
              <a:t> 3 </a:t>
            </a:r>
            <a:r>
              <a:rPr lang="en-GB" sz="2800" b="1" dirty="0"/>
              <a:t>A packaging machine wraps 210 boxes in 6 minutes, how many boxes will it wrap in 15minutes at the same speed.</a:t>
            </a:r>
            <a:br>
              <a:rPr lang="en-GB" sz="2800" b="1" dirty="0"/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dirty="0" smtClean="0"/>
                  <a:t>Let </a:t>
                </a:r>
                <a:r>
                  <a:rPr lang="en-GB" sz="2400" b="1" dirty="0" smtClean="0"/>
                  <a:t>y represent no. of boxes and x represent </a:t>
                </a:r>
                <a:r>
                  <a:rPr lang="en-GB" sz="2400" b="1" dirty="0" smtClean="0"/>
                  <a:t>minutes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US" altLang="en-GB" sz="2800" dirty="0" smtClean="0"/>
                  <a:t> </a:t>
                </a:r>
                <a:r>
                  <a:rPr lang="en-GB" sz="2800" b="1" dirty="0" smtClean="0"/>
                  <a:t>k= y/x  =</a:t>
                </a:r>
                <a:r>
                  <a:rPr lang="en-GB" sz="2800" b="1" dirty="0" smtClean="0"/>
                  <a:t>y1/x1    if y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/>
                        <a:ea typeface="Cambria Math" panose="02040503050406030204"/>
                      </a:rPr>
                      <m:t>∝</m:t>
                    </m:r>
                    <m:r>
                      <a:rPr lang="en-GB" sz="2800" b="1" i="1" smtClean="0">
                        <a:latin typeface="Cambria Math" panose="02040503050406030204"/>
                        <a:ea typeface="Cambria Math" panose="02040503050406030204"/>
                      </a:rPr>
                      <m:t>𝒙</m:t>
                    </m:r>
                  </m:oMath>
                </a14:m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let y= 210boxes, x=6mins, y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=??,x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= 15mins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 smtClean="0"/>
                  <a:t>T</a:t>
                </a:r>
                <a:r>
                  <a:rPr lang="en-GB" sz="2800" dirty="0" smtClean="0"/>
                  <a:t>herefore</a:t>
                </a:r>
                <a:r>
                  <a:rPr lang="en-GB" sz="2800" b="1" dirty="0" smtClean="0"/>
                  <a:t>: 210/6  = y1/15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    y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  =  210×15/6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    y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  =525boxes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dirty="0" smtClean="0"/>
                  <a:t>Therefore the machine will wrap 525 boxes in 15 minutes</a:t>
                </a:r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 smtClean="0"/>
              <a:t>Indirect</a:t>
            </a:r>
            <a:r>
              <a:rPr lang="en-US" altLang="en-GB" b="1" u="sng" dirty="0" smtClean="0"/>
              <a:t> / inverse</a:t>
            </a:r>
            <a:r>
              <a:rPr lang="en-GB" b="1" u="sng" dirty="0" smtClean="0"/>
              <a:t> proportion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5305" cy="50203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 </a:t>
            </a:r>
            <a:r>
              <a:rPr lang="en-US" b="1" dirty="0"/>
              <a:t> Refers to the relationship between two quantities where when one quantity increases, the other decreases, and vice versa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GB" sz="2800" dirty="0" smtClean="0">
                <a:latin typeface="+mj-lt"/>
              </a:rPr>
              <a:t>Consider two items y and x where y is indirectly proportional to x</a:t>
            </a: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r>
              <a:rPr lang="en-GB" sz="2800" dirty="0" smtClean="0">
                <a:latin typeface="+mj-lt"/>
              </a:rPr>
              <a:t>Therefore we state y </a:t>
            </a:r>
            <a:r>
              <a:rPr lang="el-GR" sz="2800" dirty="0" smtClean="0">
                <a:latin typeface="+mj-lt"/>
              </a:rPr>
              <a:t>α</a:t>
            </a:r>
            <a:r>
              <a:rPr lang="en-GB" sz="2800" dirty="0" smtClean="0">
                <a:latin typeface="+mj-lt"/>
              </a:rPr>
              <a:t> 1/x    </a:t>
            </a:r>
            <a:r>
              <a:rPr lang="en-GB" sz="2800" b="1" dirty="0" smtClean="0"/>
              <a:t>removing the proportionality sign it becomes</a:t>
            </a:r>
            <a:r>
              <a:rPr lang="en-GB" sz="2800" dirty="0" smtClean="0">
                <a:latin typeface="+mj-lt"/>
              </a:rPr>
              <a:t>   </a:t>
            </a:r>
            <a:r>
              <a:rPr lang="en-US" altLang="en-GB" sz="2800" dirty="0" smtClean="0">
                <a:latin typeface="+mj-lt"/>
              </a:rPr>
              <a:t> </a:t>
            </a: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r>
              <a:rPr lang="en-GB" sz="2800" dirty="0">
                <a:latin typeface="+mj-lt"/>
              </a:rPr>
              <a:t> </a:t>
            </a:r>
            <a:r>
              <a:rPr lang="en-GB" sz="2800" dirty="0" smtClean="0">
                <a:latin typeface="+mj-lt"/>
              </a:rPr>
              <a:t>                     y  = k/x</a:t>
            </a: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r>
              <a:rPr lang="en-GB" sz="2800" dirty="0">
                <a:latin typeface="+mj-lt"/>
              </a:rPr>
              <a:t> </a:t>
            </a:r>
            <a:r>
              <a:rPr lang="en-GB" sz="2800" dirty="0" smtClean="0">
                <a:latin typeface="+mj-lt"/>
              </a:rPr>
              <a:t>                      k = </a:t>
            </a:r>
            <a:r>
              <a:rPr lang="en-GB" sz="2800" dirty="0" err="1" smtClean="0">
                <a:latin typeface="+mj-lt"/>
              </a:rPr>
              <a:t>xy</a:t>
            </a:r>
            <a:r>
              <a:rPr lang="en-GB" sz="2800" dirty="0" smtClean="0">
                <a:latin typeface="+mj-lt"/>
              </a:rPr>
              <a:t>  = x</a:t>
            </a:r>
            <a:r>
              <a:rPr lang="en-US" altLang="en-GB" sz="2800" baseline="-25000" dirty="0" smtClean="0">
                <a:latin typeface="+mj-lt"/>
              </a:rPr>
              <a:t>1</a:t>
            </a:r>
            <a:r>
              <a:rPr lang="en-GB" sz="2800" dirty="0" smtClean="0">
                <a:latin typeface="+mj-lt"/>
              </a:rPr>
              <a:t>y</a:t>
            </a:r>
            <a:r>
              <a:rPr lang="en-GB" sz="2800" baseline="-25000" dirty="0" smtClean="0">
                <a:latin typeface="+mj-lt"/>
              </a:rPr>
              <a:t>1</a:t>
            </a:r>
            <a:endParaRPr lang="en-US" sz="2800" dirty="0" smtClean="0"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164715"/>
          </a:xfrm>
        </p:spPr>
        <p:txBody>
          <a:bodyPr>
            <a:normAutofit fontScale="90000"/>
          </a:bodyPr>
          <a:lstStyle/>
          <a:p>
            <a:br>
              <a:rPr lang="en-GB" sz="3100" dirty="0" smtClean="0"/>
            </a:br>
            <a:br>
              <a:rPr lang="en-GB" sz="3100" dirty="0"/>
            </a:br>
            <a:r>
              <a:rPr lang="en-GB" sz="2700" b="1" dirty="0" err="1" smtClean="0"/>
              <a:t>Qn</a:t>
            </a:r>
            <a:r>
              <a:rPr lang="en-GB" sz="2700" b="1" dirty="0" smtClean="0"/>
              <a:t> </a:t>
            </a:r>
            <a:r>
              <a:rPr lang="en-US" altLang="en-GB" sz="2700" b="1" dirty="0" smtClean="0"/>
              <a:t>4</a:t>
            </a:r>
            <a:r>
              <a:rPr lang="en-GB" b="1" dirty="0" smtClean="0"/>
              <a:t>. It </a:t>
            </a:r>
            <a:r>
              <a:rPr lang="en-GB" b="1" dirty="0"/>
              <a:t>takes 8 builders exactly 6 days to paint a school building . How many days would it take 12 builders at the same pace?</a:t>
            </a:r>
            <a:br>
              <a:rPr lang="en-GB" sz="3100" b="1" dirty="0"/>
            </a:b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4605"/>
            <a:ext cx="8188960" cy="40246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</a:t>
            </a:r>
            <a:r>
              <a:rPr lang="en-GB" sz="2400" dirty="0" smtClean="0"/>
              <a:t>Remember  </a:t>
            </a:r>
            <a:r>
              <a:rPr lang="en-GB" sz="2400" b="1" dirty="0" smtClean="0"/>
              <a:t> </a:t>
            </a:r>
            <a:r>
              <a:rPr lang="en-GB" sz="2400" b="1" dirty="0" smtClean="0"/>
              <a:t>k = </a:t>
            </a:r>
            <a:r>
              <a:rPr lang="en-GB" sz="2400" b="1" dirty="0" err="1" smtClean="0"/>
              <a:t>xy</a:t>
            </a:r>
            <a:r>
              <a:rPr lang="en-GB" sz="2400" b="1" dirty="0" smtClean="0"/>
              <a:t>  = </a:t>
            </a:r>
            <a:r>
              <a:rPr lang="en-GB" sz="2400" b="1" dirty="0" smtClean="0"/>
              <a:t>x1y1   </a:t>
            </a:r>
            <a:r>
              <a:rPr lang="en-GB" sz="2400" b="1" dirty="0" smtClean="0"/>
              <a:t>if we are doing the same thing( painting a building) at the same pace but different no. of builders.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 smtClean="0"/>
              <a:t>Let y =8 builders, x= 6days and y1=12builders, x1=??</a:t>
            </a:r>
            <a:endParaRPr lang="en-GB" sz="2400" b="1" dirty="0" smtClean="0"/>
          </a:p>
          <a:p>
            <a:pPr marL="0" indent="0" algn="l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</a:t>
            </a:r>
            <a:r>
              <a:rPr lang="en-GB" sz="4400" b="1" dirty="0" smtClean="0"/>
              <a:t> 6×8 = 12×x</a:t>
            </a:r>
            <a:r>
              <a:rPr lang="en-GB" sz="4400" b="1" baseline="-25000" dirty="0" smtClean="0"/>
              <a:t>1</a:t>
            </a:r>
            <a:endParaRPr lang="en-GB" sz="4400" b="1" dirty="0" smtClean="0"/>
          </a:p>
          <a:p>
            <a:pPr marL="0" indent="0" algn="l">
              <a:buNone/>
            </a:pPr>
            <a:r>
              <a:rPr lang="en-GB" sz="4400" b="1" dirty="0"/>
              <a:t> </a:t>
            </a:r>
            <a:r>
              <a:rPr lang="en-GB" sz="4400" b="1" dirty="0" smtClean="0"/>
              <a:t>      x</a:t>
            </a:r>
            <a:r>
              <a:rPr lang="en-GB" sz="4400" b="1" baseline="-25000" dirty="0" smtClean="0"/>
              <a:t>1</a:t>
            </a:r>
            <a:r>
              <a:rPr lang="en-GB" sz="4400" b="1" dirty="0" smtClean="0"/>
              <a:t>   = 6×8/12</a:t>
            </a:r>
            <a:endParaRPr lang="en-GB" sz="4400" b="1" dirty="0" smtClean="0"/>
          </a:p>
          <a:p>
            <a:pPr marL="0" indent="0" algn="l">
              <a:buNone/>
            </a:pPr>
            <a:r>
              <a:rPr lang="en-GB" sz="4400" b="1" dirty="0"/>
              <a:t> </a:t>
            </a:r>
            <a:r>
              <a:rPr lang="en-GB" sz="4400" b="1" dirty="0" smtClean="0"/>
              <a:t>       x</a:t>
            </a:r>
            <a:r>
              <a:rPr lang="en-GB" sz="4400" b="1" baseline="-25000" dirty="0" smtClean="0"/>
              <a:t>1</a:t>
            </a:r>
            <a:r>
              <a:rPr lang="en-GB" sz="4400" b="1" dirty="0" smtClean="0"/>
              <a:t>   =4 days </a:t>
            </a:r>
            <a:endParaRPr lang="en-GB" sz="4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356995"/>
          </a:xfrm>
        </p:spPr>
        <p:txBody>
          <a:bodyPr>
            <a:noAutofit/>
          </a:bodyPr>
          <a:lstStyle/>
          <a:p>
            <a:br>
              <a:rPr lang="en-GB" sz="3200" dirty="0" smtClean="0"/>
            </a:br>
            <a:r>
              <a:rPr lang="en-GB" sz="2400" dirty="0" smtClean="0"/>
              <a:t>Qn.</a:t>
            </a:r>
            <a:r>
              <a:rPr lang="en-US" altLang="en-GB" sz="2400" dirty="0" smtClean="0"/>
              <a:t>5</a:t>
            </a:r>
            <a:r>
              <a:rPr lang="en-GB" sz="3200" dirty="0" smtClean="0"/>
              <a:t> </a:t>
            </a:r>
            <a:r>
              <a:rPr lang="en-GB" sz="2800" b="1" dirty="0"/>
              <a:t>A delivery track travels 60km/</a:t>
            </a:r>
            <a:r>
              <a:rPr lang="en-GB" sz="2800" b="1" dirty="0" err="1"/>
              <a:t>hr</a:t>
            </a:r>
            <a:r>
              <a:rPr lang="en-GB" sz="2800" b="1" dirty="0"/>
              <a:t> and takes 3 hours. How long will it take at 90km/</a:t>
            </a:r>
            <a:r>
              <a:rPr lang="en-GB" sz="2800" b="1" dirty="0" err="1"/>
              <a:t>hr</a:t>
            </a:r>
            <a:r>
              <a:rPr lang="en-GB" sz="2800" b="1" dirty="0"/>
              <a:t>?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8815"/>
            <a:ext cx="8229600" cy="4177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using</a:t>
            </a:r>
            <a:r>
              <a:rPr lang="en-GB" b="1" dirty="0" smtClean="0"/>
              <a:t> </a:t>
            </a:r>
            <a:r>
              <a:rPr lang="en-GB" b="1" dirty="0" err="1" smtClean="0"/>
              <a:t>xy</a:t>
            </a:r>
            <a:r>
              <a:rPr lang="en-GB" b="1" dirty="0" smtClean="0"/>
              <a:t> = x</a:t>
            </a:r>
            <a:r>
              <a:rPr lang="en-GB" b="1" baseline="-25000" dirty="0" smtClean="0"/>
              <a:t>1</a:t>
            </a:r>
            <a:r>
              <a:rPr lang="en-GB" b="1" dirty="0" smtClean="0"/>
              <a:t>y</a:t>
            </a:r>
            <a:r>
              <a:rPr lang="en-GB" b="1" baseline="-25000" dirty="0" smtClean="0"/>
              <a:t>1</a:t>
            </a:r>
            <a:r>
              <a:rPr lang="en-GB" b="1" dirty="0" smtClean="0"/>
              <a:t> =k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/>
              <a:t>  </a:t>
            </a:r>
            <a:r>
              <a:rPr lang="en-GB" dirty="0" smtClean="0"/>
              <a:t>where</a:t>
            </a:r>
            <a:r>
              <a:rPr lang="en-GB" b="1" dirty="0" smtClean="0"/>
              <a:t> y=</a:t>
            </a:r>
            <a:r>
              <a:rPr lang="en-GB" dirty="0" smtClean="0"/>
              <a:t>60km/</a:t>
            </a:r>
            <a:r>
              <a:rPr lang="en-GB" dirty="0" err="1" smtClean="0"/>
              <a:t>hr</a:t>
            </a:r>
            <a:r>
              <a:rPr lang="en-GB" b="1" dirty="0" smtClean="0"/>
              <a:t>, x=</a:t>
            </a:r>
            <a:r>
              <a:rPr lang="en-GB" dirty="0" smtClean="0"/>
              <a:t>3hr</a:t>
            </a:r>
            <a:r>
              <a:rPr lang="en-GB" b="1" dirty="0" smtClean="0"/>
              <a:t>s, x</a:t>
            </a:r>
            <a:r>
              <a:rPr lang="en-GB" b="1" baseline="-25000" dirty="0" smtClean="0"/>
              <a:t>1</a:t>
            </a:r>
            <a:r>
              <a:rPr lang="en-GB" b="1" dirty="0" smtClean="0"/>
              <a:t>=??, y</a:t>
            </a:r>
            <a:r>
              <a:rPr lang="en-GB" b="1" baseline="-25000" dirty="0" smtClean="0"/>
              <a:t>1</a:t>
            </a:r>
            <a:r>
              <a:rPr lang="en-GB" b="1" dirty="0" smtClean="0"/>
              <a:t>= </a:t>
            </a:r>
            <a:r>
              <a:rPr lang="en-GB" dirty="0" smtClean="0"/>
              <a:t>90km/</a:t>
            </a:r>
            <a:r>
              <a:rPr lang="en-GB" dirty="0" err="1" smtClean="0"/>
              <a:t>hr</a:t>
            </a:r>
            <a:endParaRPr lang="en-GB" dirty="0" smtClean="0"/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3×60 = 90 × x</a:t>
            </a:r>
            <a:r>
              <a:rPr lang="en-GB" b="1" baseline="-25000" dirty="0" smtClean="0"/>
              <a:t>1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x</a:t>
            </a:r>
            <a:r>
              <a:rPr lang="en-GB" b="1" baseline="-25000" dirty="0" smtClean="0"/>
              <a:t>1</a:t>
            </a:r>
            <a:r>
              <a:rPr lang="en-GB" b="1" dirty="0" smtClean="0"/>
              <a:t> =</a:t>
            </a:r>
            <a:r>
              <a:rPr lang="en-GB" b="1" dirty="0" smtClean="0"/>
              <a:t>3 × 60/90</a:t>
            </a:r>
            <a:endParaRPr lang="en-GB" b="1" dirty="0"/>
          </a:p>
          <a:p>
            <a:pPr marL="0" indent="0">
              <a:buNone/>
            </a:pPr>
            <a:r>
              <a:rPr lang="en-GB" b="1" dirty="0" smtClean="0"/>
              <a:t>           x</a:t>
            </a:r>
            <a:r>
              <a:rPr lang="en-GB" b="1" baseline="-25000" dirty="0" smtClean="0"/>
              <a:t>1</a:t>
            </a:r>
            <a:r>
              <a:rPr lang="en-GB" b="1" dirty="0" smtClean="0"/>
              <a:t>= 2hours</a:t>
            </a:r>
            <a:endParaRPr lang="en-GB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007870"/>
          </a:xfrm>
        </p:spPr>
        <p:txBody>
          <a:bodyPr>
            <a:noAutofit/>
          </a:bodyPr>
          <a:lstStyle/>
          <a:p>
            <a:br>
              <a:rPr lang="en-GB" sz="2400" dirty="0" smtClean="0"/>
            </a:br>
            <a:r>
              <a:rPr lang="en-GB" sz="2800" dirty="0" smtClean="0"/>
              <a:t>Qn.</a:t>
            </a:r>
            <a:r>
              <a:rPr lang="en-US" altLang="en-GB" sz="2800" dirty="0" smtClean="0"/>
              <a:t>6</a:t>
            </a:r>
            <a:r>
              <a:rPr lang="en-GB" sz="2800" dirty="0" smtClean="0"/>
              <a:t> </a:t>
            </a:r>
            <a:r>
              <a:rPr lang="en-GB" sz="2800" b="1" dirty="0"/>
              <a:t>A poultry farmer has enough feed for 200 chicken for 15 days. After selling some birds 150 chicken remain, How many days will the feed last</a:t>
            </a:r>
            <a:r>
              <a:rPr lang="en-GB" sz="2800" dirty="0"/>
              <a:t>.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1720"/>
            <a:ext cx="8229600" cy="3794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Using </a:t>
            </a:r>
            <a:r>
              <a:rPr lang="en-GB" sz="2400" b="1" dirty="0" err="1" smtClean="0"/>
              <a:t>xy</a:t>
            </a:r>
            <a:r>
              <a:rPr lang="en-GB" sz="2400" b="1" dirty="0"/>
              <a:t> </a:t>
            </a:r>
            <a:r>
              <a:rPr lang="en-GB" sz="2400" b="1" dirty="0" smtClean="0"/>
              <a:t>= x1y1    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 smtClean="0"/>
              <a:t>where y=200chicken, x=15days, y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=150 chicken, x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=??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15×200 = 150×x</a:t>
            </a:r>
            <a:r>
              <a:rPr lang="en-GB" sz="2400" b="1" baseline="-25000" dirty="0" smtClean="0"/>
              <a:t>1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x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  15×200/150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 x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 20days</a:t>
            </a:r>
            <a:endParaRPr lang="en-GB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127885"/>
          </a:xfrm>
        </p:spPr>
        <p:txBody>
          <a:bodyPr/>
          <a:lstStyle/>
          <a:p>
            <a:r>
              <a:rPr lang="en-US" altLang="en-GB" sz="2800" b="1" dirty="0" smtClean="0"/>
              <a:t> </a:t>
            </a:r>
            <a:r>
              <a:rPr lang="en-GB" sz="2800" b="1" dirty="0" smtClean="0">
                <a:sym typeface="+mn-ea"/>
              </a:rPr>
              <a:t>Qn</a:t>
            </a:r>
            <a:r>
              <a:rPr lang="en-US" altLang="en-GB" sz="2800" b="1" dirty="0" smtClean="0">
                <a:sym typeface="+mn-ea"/>
              </a:rPr>
              <a:t>7</a:t>
            </a:r>
            <a:r>
              <a:rPr lang="en-GB" sz="2800" b="1" dirty="0" smtClean="0">
                <a:sym typeface="+mn-ea"/>
              </a:rPr>
              <a:t>. two business partners </a:t>
            </a:r>
            <a:r>
              <a:rPr lang="en-GB" sz="2800" b="1" dirty="0" err="1" smtClean="0">
                <a:sym typeface="+mn-ea"/>
              </a:rPr>
              <a:t>sarah</a:t>
            </a:r>
            <a:r>
              <a:rPr lang="en-GB" sz="2800" b="1" dirty="0" smtClean="0">
                <a:sym typeface="+mn-ea"/>
              </a:rPr>
              <a:t> and john, split monthly profits in the ratio of 3:2. total profit= </a:t>
            </a:r>
            <a:r>
              <a:rPr lang="en-GB" sz="2800" b="1" dirty="0" err="1" smtClean="0">
                <a:sym typeface="+mn-ea"/>
              </a:rPr>
              <a:t>ugx</a:t>
            </a:r>
            <a:r>
              <a:rPr lang="en-GB" sz="2800" b="1" dirty="0" smtClean="0">
                <a:sym typeface="+mn-ea"/>
              </a:rPr>
              <a:t> 1,500,000. how much does </a:t>
            </a:r>
            <a:r>
              <a:rPr lang="en-GB" sz="2800" b="1" dirty="0" err="1" smtClean="0">
                <a:sym typeface="+mn-ea"/>
              </a:rPr>
              <a:t>sarah</a:t>
            </a:r>
            <a:r>
              <a:rPr lang="en-GB" sz="2800" b="1" dirty="0" smtClean="0">
                <a:sym typeface="+mn-ea"/>
              </a:rPr>
              <a:t> receive ?</a:t>
            </a:r>
            <a:endParaRPr lang="en-GB" altLang="en-GB" sz="2800" b="1" dirty="0" smtClean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839720"/>
                <a:ext cx="8229600" cy="3197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GB" sz="2400" b="1" dirty="0" smtClean="0"/>
                  <a:t> </a:t>
                </a:r>
                <a:r>
                  <a:rPr lang="en-GB" sz="2400" b="1" dirty="0" smtClean="0"/>
                  <a:t>Total ratio = 3+2 =5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GB" sz="2400" b="1" dirty="0" smtClean="0"/>
                  <a:t>So </a:t>
                </a:r>
                <a:r>
                  <a:rPr lang="en-GB" sz="2400" b="1" dirty="0" err="1" smtClean="0"/>
                  <a:t>sarah</a:t>
                </a:r>
                <a:r>
                  <a:rPr lang="en-GB" sz="2400" b="1" dirty="0" smtClean="0"/>
                  <a:t> gets</a:t>
                </a:r>
                <a:r>
                  <a:rPr lang="en-US" altLang="en-GB" sz="24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num>
                      <m:den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400" b="1" dirty="0" smtClean="0"/>
                  <a:t> of the total profit and John gets </a:t>
                </a:r>
                <a:r>
                  <a:rPr lang="en-US" altLang="en-GB" sz="24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num>
                      <m:den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altLang="en-GB" sz="2400" b="1" dirty="0" smtClean="0"/>
                  <a:t> </a:t>
                </a:r>
                <a:r>
                  <a:rPr lang="en-GB" sz="2400" b="1" dirty="0" smtClean="0"/>
                  <a:t>of the total profit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GB" sz="2400" b="1" dirty="0" smtClean="0"/>
                  <a:t>This means for </a:t>
                </a:r>
                <a:r>
                  <a:rPr lang="en-GB" sz="2400" b="1" dirty="0" err="1" smtClean="0"/>
                  <a:t>sarah</a:t>
                </a:r>
                <a:r>
                  <a:rPr lang="en-GB" sz="2400" b="1" dirty="0" smtClean="0"/>
                  <a:t> =</a:t>
                </a:r>
                <a:r>
                  <a:rPr lang="en-US" altLang="en-GB" sz="24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num>
                      <m:den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400" b="1" dirty="0" smtClean="0"/>
                  <a:t> × 1,500,000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GB" sz="2400" b="1" dirty="0"/>
                  <a:t> </a:t>
                </a:r>
                <a:r>
                  <a:rPr lang="en-GB" sz="2400" b="1" dirty="0" smtClean="0"/>
                  <a:t>                                      = </a:t>
                </a:r>
                <a:r>
                  <a:rPr lang="en-GB" sz="2400" b="1" dirty="0" err="1" smtClean="0"/>
                  <a:t>ugx</a:t>
                </a:r>
                <a:r>
                  <a:rPr lang="en-GB" sz="2400" b="1" dirty="0" smtClean="0"/>
                  <a:t> 900,00</a:t>
                </a:r>
                <a:endParaRPr lang="en-US" sz="24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839720"/>
                <a:ext cx="8229600" cy="319722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sz="2400" dirty="0" smtClean="0"/>
            </a:br>
            <a:br>
              <a:rPr lang="en-GB" sz="2400" dirty="0"/>
            </a:br>
            <a:r>
              <a:rPr lang="en-GB" sz="2800" dirty="0" smtClean="0"/>
              <a:t>Qn</a:t>
            </a:r>
            <a:r>
              <a:rPr lang="en-US" altLang="en-GB" sz="2800" dirty="0" smtClean="0"/>
              <a:t>9</a:t>
            </a:r>
            <a:r>
              <a:rPr lang="en-GB" sz="2800" dirty="0" smtClean="0"/>
              <a:t>.</a:t>
            </a:r>
            <a:r>
              <a:rPr lang="en-GB" sz="2800" dirty="0">
                <a:latin typeface="Arial Black" panose="020B0A04020102020204" pitchFamily="34" charset="0"/>
              </a:rPr>
              <a:t> Concrete I mixed using cement and sand in the ratio 1:4. if sand= 24kg, how much cement is needed?</a:t>
            </a:r>
            <a:br>
              <a:rPr lang="en-GB" sz="2400" dirty="0">
                <a:latin typeface="Arial Black" panose="020B0A04020102020204" pitchFamily="34" charset="0"/>
              </a:rPr>
            </a:br>
            <a:br>
              <a:rPr lang="en-GB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14960" y="1884045"/>
            <a:ext cx="8654415" cy="4776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sym typeface="+mn-ea"/>
              </a:rPr>
              <a:t>Total ratio</a:t>
            </a:r>
            <a:r>
              <a:rPr lang="en-GB" b="1" dirty="0" smtClean="0">
                <a:sym typeface="+mn-ea"/>
              </a:rPr>
              <a:t>= 1+4= 5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>
                <a:sym typeface="+mn-ea"/>
              </a:rPr>
              <a:t>Cement= 1/5 and sand= 4/5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>
                <a:sym typeface="+mn-ea"/>
              </a:rPr>
              <a:t>Let the total weight of the mixture be x</a:t>
            </a:r>
            <a:endParaRPr lang="en-GB" b="1" dirty="0" smtClean="0"/>
          </a:p>
          <a:p>
            <a:pPr marL="0" indent="0">
              <a:buNone/>
            </a:pPr>
            <a:r>
              <a:rPr lang="en-GB" dirty="0" smtClean="0">
                <a:sym typeface="+mn-ea"/>
              </a:rPr>
              <a:t>Therefore </a:t>
            </a:r>
            <a:r>
              <a:rPr lang="en-GB" b="1" dirty="0" smtClean="0">
                <a:sym typeface="+mn-ea"/>
              </a:rPr>
              <a:t>sand= 4/5   ×  x =24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>
                <a:sym typeface="+mn-ea"/>
              </a:rPr>
              <a:t> </a:t>
            </a:r>
            <a:r>
              <a:rPr lang="en-GB" b="1" dirty="0" smtClean="0">
                <a:sym typeface="+mn-ea"/>
              </a:rPr>
              <a:t>                                   x= 24×5/4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>
                <a:sym typeface="+mn-ea"/>
              </a:rPr>
              <a:t> </a:t>
            </a:r>
            <a:r>
              <a:rPr lang="en-GB" b="1" dirty="0" smtClean="0">
                <a:sym typeface="+mn-ea"/>
              </a:rPr>
              <a:t>                                   x= 30kgs</a:t>
            </a:r>
            <a:endParaRPr lang="en-GB" b="1" dirty="0" smtClean="0"/>
          </a:p>
          <a:p>
            <a:pPr marL="0" indent="0">
              <a:buNone/>
            </a:pPr>
            <a:r>
              <a:rPr lang="en-GB" dirty="0" smtClean="0">
                <a:sym typeface="+mn-ea"/>
              </a:rPr>
              <a:t>For </a:t>
            </a:r>
            <a:r>
              <a:rPr lang="en-GB" b="1" dirty="0" smtClean="0">
                <a:sym typeface="+mn-ea"/>
              </a:rPr>
              <a:t>cement  1/5   × 30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>
                <a:sym typeface="+mn-ea"/>
              </a:rPr>
              <a:t> </a:t>
            </a:r>
            <a:r>
              <a:rPr lang="en-GB" b="1" dirty="0" smtClean="0">
                <a:sym typeface="+mn-ea"/>
              </a:rPr>
              <a:t>                             = 6kg.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800" b="1" u="sng" dirty="0" smtClean="0">
                <a:sym typeface="+mn-ea"/>
              </a:rPr>
              <a:t>A</a:t>
            </a:r>
            <a:r>
              <a:rPr lang="en-GB" sz="4800" b="1" u="sng" dirty="0" smtClean="0">
                <a:sym typeface="+mn-ea"/>
              </a:rPr>
              <a:t>lternatively</a:t>
            </a:r>
            <a:endParaRPr lang="en-GB" altLang="en-US" sz="4800" b="1" u="sng" dirty="0" smtClean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86740" y="1691640"/>
                <a:ext cx="7921625" cy="4768215"/>
              </a:xfrm>
            </p:spPr>
            <p:txBody>
              <a:bodyPr/>
              <a:p>
                <a:pPr marL="0" indent="0">
                  <a:buNone/>
                </a:pPr>
                <a:r>
                  <a:rPr lang="en-GB" b="1" dirty="0" smtClean="0">
                    <a:sym typeface="+mn-ea"/>
                  </a:rPr>
                  <a:t>We compare the ratio give with the ratio of the </a:t>
                </a:r>
                <a:r>
                  <a:rPr lang="en-GB" b="1" dirty="0" err="1" smtClean="0">
                    <a:sym typeface="+mn-ea"/>
                  </a:rPr>
                  <a:t>the</a:t>
                </a:r>
                <a:r>
                  <a:rPr lang="en-GB" b="1" dirty="0" smtClean="0">
                    <a:sym typeface="+mn-ea"/>
                  </a:rPr>
                  <a:t> weights which must be the same,  cement  :   sand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>
                    <a:sym typeface="+mn-ea"/>
                  </a:rPr>
                  <a:t> </a:t>
                </a:r>
                <a:r>
                  <a:rPr lang="en-GB" b="1" dirty="0" smtClean="0">
                    <a:sym typeface="+mn-ea"/>
                  </a:rPr>
                  <a:t>              1            :   4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>
                    <a:sym typeface="+mn-ea"/>
                  </a:rPr>
                  <a:t> </a:t>
                </a:r>
                <a:r>
                  <a:rPr lang="en-GB" b="1" dirty="0" smtClean="0">
                    <a:sym typeface="+mn-ea"/>
                  </a:rPr>
                  <a:t>               c            :   24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 smtClean="0">
                    <a:sym typeface="+mn-ea"/>
                  </a:rPr>
                  <a:t>c being the weight of cement</a:t>
                </a:r>
                <a:endParaRPr lang="en-GB" b="1" dirty="0" smtClean="0">
                  <a:sym typeface="+mn-ea"/>
                </a:endParaRPr>
              </a:p>
              <a:p>
                <a:pPr marL="0" indent="0">
                  <a:buNone/>
                </a:pPr>
                <a:r>
                  <a:rPr lang="en-GB" b="1" dirty="0" smtClean="0">
                    <a:sym typeface="+mn-ea"/>
                  </a:rPr>
                  <a:t>Therefore;  </a:t>
                </a:r>
                <a:r>
                  <a:rPr lang="en-US" altLang="en-GB" b="1" dirty="0" smtClean="0"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 = </a:t>
                </a:r>
                <a:r>
                  <a:rPr lang="en-US" altLang="en-GB" b="1" dirty="0" smtClean="0"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𝒄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𝟐𝟒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  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>
                    <a:sym typeface="+mn-ea"/>
                  </a:rPr>
                  <a:t> </a:t>
                </a:r>
                <a:r>
                  <a:rPr lang="en-GB" b="1" dirty="0" smtClean="0">
                    <a:sym typeface="+mn-ea"/>
                  </a:rPr>
                  <a:t>                       c = 6kgs</a:t>
                </a:r>
                <a:endParaRPr lang="en-GB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86740" y="1691640"/>
                <a:ext cx="7921625" cy="476821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3375" y="128270"/>
            <a:ext cx="8519160" cy="1527175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/>
              <a:t>Qn.</a:t>
            </a:r>
            <a:r>
              <a:rPr lang="en-US" altLang="en-GB" sz="2800" b="1" dirty="0" smtClean="0"/>
              <a:t>9</a:t>
            </a:r>
            <a:r>
              <a:rPr lang="en-GB" b="1" dirty="0" smtClean="0"/>
              <a:t> </a:t>
            </a:r>
            <a:r>
              <a:rPr lang="en-GB" sz="2800" b="1" dirty="0"/>
              <a:t>A school field has width 800m and length 1.2 km find the ratio of width to length in the simplest whole numbers. </a:t>
            </a:r>
            <a:br>
              <a:rPr lang="en-GB" sz="2400" b="1" dirty="0"/>
            </a:br>
            <a:endParaRPr lang="en-GB" sz="2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826260"/>
            <a:ext cx="8229600" cy="48304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Convert 1.2 km to meters</a:t>
            </a:r>
            <a:endParaRPr lang="en-US" sz="2800" b="1" dirty="0" smtClean="0"/>
          </a:p>
          <a:p>
            <a:pPr marL="457200" lvl="1" indent="0">
              <a:buNone/>
            </a:pPr>
            <a:r>
              <a:rPr lang="en-US" sz="2400" b="1" dirty="0" smtClean="0"/>
              <a:t> 1km=1000m</a:t>
            </a:r>
            <a:endParaRPr lang="en-US" sz="2400" b="1" dirty="0" smtClean="0"/>
          </a:p>
          <a:p>
            <a:pPr marL="457200" lvl="1" indent="0">
              <a:buNone/>
            </a:pPr>
            <a:r>
              <a:rPr lang="en-US" sz="2400" b="1" dirty="0" smtClean="0"/>
              <a:t> 1.2km=1.2×1000</a:t>
            </a:r>
            <a:endParaRPr lang="en-US" sz="2400" b="1" dirty="0" smtClean="0"/>
          </a:p>
          <a:p>
            <a:pPr marL="457200" lvl="1" indent="0">
              <a:buNone/>
            </a:pPr>
            <a:r>
              <a:rPr lang="en-US" sz="2400" b="1" dirty="0" smtClean="0"/>
              <a:t>            =1200m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800" b="1" dirty="0" smtClean="0"/>
              <a:t>Find the ratio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     width:length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     </a:t>
            </a:r>
            <a:r>
              <a:rPr lang="en-US" sz="2800" b="1" dirty="0" smtClean="0"/>
              <a:t>800:1200      </a:t>
            </a:r>
            <a:r>
              <a:rPr lang="en-US" sz="2800" b="1" u="sng" dirty="0" smtClean="0"/>
              <a:t>800</a:t>
            </a:r>
            <a:r>
              <a:rPr lang="en-US" sz="2800" b="1" dirty="0" smtClean="0"/>
              <a:t>:</a:t>
            </a:r>
            <a:r>
              <a:rPr lang="en-US" sz="2800" b="1" u="sng" dirty="0" smtClean="0"/>
              <a:t>1200 </a:t>
            </a:r>
            <a:r>
              <a:rPr lang="en-US" sz="2800" b="1" dirty="0" smtClean="0"/>
              <a:t>   </a:t>
            </a:r>
            <a:r>
              <a:rPr lang="en-US" sz="4000" b="1" dirty="0" smtClean="0"/>
              <a:t> </a:t>
            </a:r>
            <a:endParaRPr lang="en-US" sz="4000" b="1" dirty="0" smtClean="0"/>
          </a:p>
          <a:p>
            <a:pPr marL="0" indent="0">
              <a:buNone/>
            </a:pPr>
            <a:r>
              <a:rPr lang="en-US" sz="2800" b="1" dirty="0" smtClean="0"/>
              <a:t>                           400  400</a:t>
            </a:r>
            <a:endParaRPr lang="en-US" sz="2800" b="1" dirty="0" smtClean="0"/>
          </a:p>
          <a:p>
            <a:pPr marL="457200" lvl="1" indent="0" algn="r">
              <a:buNone/>
            </a:pPr>
            <a:r>
              <a:rPr lang="en-US" b="1" dirty="0" smtClean="0"/>
              <a:t>   </a:t>
            </a:r>
            <a:r>
              <a:rPr lang="en-US" sz="3200" b="1" dirty="0" smtClean="0"/>
              <a:t>    2:3 </a:t>
            </a:r>
            <a:r>
              <a:rPr lang="en-US" b="1" dirty="0" smtClean="0"/>
              <a:t>   (This is got by dividing the distances by 400)</a:t>
            </a:r>
            <a:endParaRPr lang="en-US" b="1" dirty="0" smtClean="0"/>
          </a:p>
          <a:p>
            <a:pPr marL="0" indent="0">
              <a:buNone/>
            </a:pP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r>
              <a:rPr lang="en-US" b="1" dirty="0"/>
              <a:t>NOTE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For proportions first find out whether you are dealing with direct or indirect and the start computing.</a:t>
            </a:r>
            <a:endParaRPr lang="en-GB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For ratios note they can be expressed as fractions.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>
                <a:latin typeface="Bauhaus 93" pitchFamily="82" charset="0"/>
              </a:rPr>
              <a:t>                                  the end</a:t>
            </a:r>
            <a:endParaRPr lang="en-US" dirty="0">
              <a:latin typeface="Bauhaus 93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5015</Words>
  <Application>WPS Presentation</Application>
  <PresentationFormat>On-screen Show (4:3)</PresentationFormat>
  <Paragraphs>198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 Black</vt:lpstr>
      <vt:lpstr>Wingdings</vt:lpstr>
      <vt:lpstr>Cambria Math</vt:lpstr>
      <vt:lpstr>Cambria Math</vt:lpstr>
      <vt:lpstr>Bauhaus 93</vt:lpstr>
      <vt:lpstr>Segoe Print</vt:lpstr>
      <vt:lpstr>Microsoft YaHei</vt:lpstr>
      <vt:lpstr>Arial Unicode MS</vt:lpstr>
      <vt:lpstr>Calibri</vt:lpstr>
      <vt:lpstr>Art_mountaineering</vt:lpstr>
      <vt:lpstr>COURSE UNIT: MATHS IST 1106 SEMESTER:1 LECTURER: BYANSI DAVID 2026-GROUP: D ASSIGNMENT .2</vt:lpstr>
      <vt:lpstr>RATIOS AND PROPORTIONS</vt:lpstr>
      <vt:lpstr>TYPES OF PROPORTION</vt:lpstr>
      <vt:lpstr> QN 1.A car uses 12 litres of petrol to travel 180 kilometres. How many litres of petrol are needed to travel 300 kilometres. </vt:lpstr>
      <vt:lpstr>PowerPoint 演示文稿</vt:lpstr>
      <vt:lpstr> Qn 2. If 5 kilograms of rice cost UgX 22,500 how much will8kg cost? </vt:lpstr>
      <vt:lpstr> Qn 3 A packaging machine wraps 210 boxes in 6 minutes, how many boxes will it wrap in 15minutes at the same speed. </vt:lpstr>
      <vt:lpstr>Indirect / inverse proportion</vt:lpstr>
      <vt:lpstr>  Qn 4. It takes 8 builders exactly 6 days to paint a school building . How many days would it take 12 builders at the same pace?  </vt:lpstr>
      <vt:lpstr> Qn.5 A delivery track travels 60km/hr and takes 3 hours. How long will it take at 90km/hr? </vt:lpstr>
      <vt:lpstr> Qn.6 A poultry farmer has enough feed for 200 chicken for 15 days. After selling some birds 150 chicken remain, How many days will the feed last. </vt:lpstr>
      <vt:lpstr> Qn7. two business partners sarah and john, split monthly profits in the ratio of 3:2. total profit= ugx 1,500,000. how much does sarah receive ?</vt:lpstr>
      <vt:lpstr>  Qn9. Concrete I mixed using cement and sand in the ratio 1:4. if sand= 24kg, how much cement is needed?  </vt:lpstr>
      <vt:lpstr>Alternatively</vt:lpstr>
      <vt:lpstr>Qn.9 A school field has width 800m and length 1.2 km find the ratio of width to length in the simplest whole numbers.  </vt:lpstr>
      <vt:lpstr>NOTE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THINKPAD</cp:lastModifiedBy>
  <cp:revision>41</cp:revision>
  <dcterms:created xsi:type="dcterms:W3CDTF">2026-08-30T10:13:00Z</dcterms:created>
  <dcterms:modified xsi:type="dcterms:W3CDTF">2026-08-31T05:01:26Z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3E7F7858C6F3409C9DD69D4B27A96C0B_12</vt:lpwstr>
  </property>
  <property fmtid="{D5CDD505-2E9C-101B-9397-08002B2CF9AE}" pid="3" name="KSOProductBuildVer">
    <vt:lpwstr>2057-12.2.0.23202</vt:lpwstr>
  </property>
</Properties>
</file>