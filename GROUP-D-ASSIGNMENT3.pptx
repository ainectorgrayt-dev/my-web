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3" r:id="rId5"/>
    <p:sldId id="264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6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4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9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9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4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5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2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3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5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2A114-65AB-4276-84C0-C57A29E4E6E9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0738E-0C95-4668-8827-775AB0D36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6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97726" y="195942"/>
            <a:ext cx="8608423" cy="22424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GB" sz="3200" b="1" dirty="0" smtClean="0"/>
              <a:t>COURSE UNIT: MATHS IST 1106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SEMESTER:1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LECTURER: BYANSI DAVID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2026-GROUP: D</a:t>
            </a:r>
            <a:br>
              <a:rPr lang="en-US" altLang="en-GB" sz="3200" b="1" dirty="0" smtClean="0"/>
            </a:br>
            <a:r>
              <a:rPr lang="en-US" altLang="en-GB" sz="3200" b="1" dirty="0" smtClean="0"/>
              <a:t>ASSIGNMENT .3</a:t>
            </a:r>
            <a:endParaRPr lang="en-US" sz="3200" b="1" dirty="0"/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4206628854"/>
              </p:ext>
            </p:extLst>
          </p:nvPr>
        </p:nvGraphicFramePr>
        <p:xfrm>
          <a:off x="1417048" y="2549963"/>
          <a:ext cx="8576038" cy="3794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283710"/>
                <a:gridCol w="2124710"/>
                <a:gridCol w="2167618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2600703692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dirty="0"/>
                        <a:t>2600703698</a:t>
                      </a:r>
                    </a:p>
                  </a:txBody>
                  <a:tcPr/>
                </a:tc>
              </a:tr>
              <a:tr h="164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MBABAALI EDRINE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26/U/03831/PS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26/U/04111/PSA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2600704111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KAWUMI JEREMY 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26/U/03862/PS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2600703862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PETO MICROS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26/U/04146/PSA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2600704146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ABOKU GEORGE PHILIP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26/U/03678/PSA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99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RELATIONS AND FUNCTIONS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400" b="1" dirty="0" smtClean="0"/>
              <a:t>f:A----&gt;B</a:t>
            </a:r>
            <a:endParaRPr lang="en-US" sz="5400" b="1" dirty="0"/>
          </a:p>
          <a:p>
            <a:pPr marL="0" indent="0">
              <a:buNone/>
            </a:pPr>
            <a:r>
              <a:rPr lang="en-US" dirty="0" smtClean="0"/>
              <a:t>Math can be use to define relationships between different numbers using relations and functions.</a:t>
            </a:r>
          </a:p>
          <a:p>
            <a:pPr marL="0" indent="0">
              <a:buNone/>
            </a:pPr>
            <a:r>
              <a:rPr lang="en-US" dirty="0" smtClean="0"/>
              <a:t>Functions are also called Mappings or transformations.</a:t>
            </a:r>
          </a:p>
          <a:p>
            <a:pPr marL="0" indent="0">
              <a:buNone/>
            </a:pPr>
            <a:r>
              <a:rPr lang="en-US" dirty="0" smtClean="0"/>
              <a:t>A relation f from A to B is a function if;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Every element of A is related to some elements of 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An element A can not be related to more than one element of B.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7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348" y="1245939"/>
            <a:ext cx="5157787" cy="622050"/>
          </a:xfrm>
        </p:spPr>
        <p:txBody>
          <a:bodyPr/>
          <a:lstStyle/>
          <a:p>
            <a:r>
              <a:rPr lang="en-US" sz="2800" u="sng" dirty="0" smtClean="0"/>
              <a:t>(many to one)A function</a:t>
            </a:r>
            <a:endParaRPr lang="en-US" sz="2800" u="sn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45939"/>
            <a:ext cx="5183188" cy="639795"/>
          </a:xfrm>
        </p:spPr>
        <p:txBody>
          <a:bodyPr>
            <a:normAutofit/>
          </a:bodyPr>
          <a:lstStyle/>
          <a:p>
            <a:r>
              <a:rPr lang="en-US" sz="2800" u="sng" dirty="0" smtClean="0"/>
              <a:t>(one to many)Not a </a:t>
            </a:r>
            <a:r>
              <a:rPr lang="en-US" sz="2800" u="sng" dirty="0" smtClean="0">
                <a:ln>
                  <a:solidFill>
                    <a:sysClr val="windowText" lastClr="000000"/>
                  </a:solidFill>
                </a:ln>
              </a:rPr>
              <a:t>function</a:t>
            </a:r>
            <a:endParaRPr lang="en-US" sz="2800" u="sng" dirty="0">
              <a:ln>
                <a:solidFill>
                  <a:sysClr val="windowText" lastClr="000000"/>
                </a:solidFill>
              </a:ln>
            </a:endParaRPr>
          </a:p>
        </p:txBody>
      </p:sp>
      <p:grpSp>
        <p:nvGrpSpPr>
          <p:cNvPr id="23" name="Group 11"/>
          <p:cNvGrpSpPr>
            <a:grpSpLocks/>
          </p:cNvGrpSpPr>
          <p:nvPr/>
        </p:nvGrpSpPr>
        <p:grpSpPr bwMode="auto">
          <a:xfrm>
            <a:off x="606911" y="1895912"/>
            <a:ext cx="4917391" cy="3422448"/>
            <a:chOff x="108901006" y="108181574"/>
            <a:chExt cx="2675964" cy="5009980"/>
          </a:xfrm>
        </p:grpSpPr>
        <p:grpSp>
          <p:nvGrpSpPr>
            <p:cNvPr id="24" name="Group 12"/>
            <p:cNvGrpSpPr>
              <a:grpSpLocks/>
            </p:cNvGrpSpPr>
            <p:nvPr/>
          </p:nvGrpSpPr>
          <p:grpSpPr bwMode="auto">
            <a:xfrm>
              <a:off x="108901006" y="108914453"/>
              <a:ext cx="2675964" cy="4277101"/>
              <a:chOff x="108901006" y="108914453"/>
              <a:chExt cx="2675964" cy="4277101"/>
            </a:xfrm>
          </p:grpSpPr>
          <p:sp>
            <p:nvSpPr>
              <p:cNvPr id="27" name="Oval 13"/>
              <p:cNvSpPr>
                <a:spLocks noChangeArrowheads="1"/>
              </p:cNvSpPr>
              <p:nvPr/>
            </p:nvSpPr>
            <p:spPr bwMode="auto">
              <a:xfrm>
                <a:off x="108901006" y="108914453"/>
                <a:ext cx="1210235" cy="416726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4</a:t>
                </a:r>
                <a:endParaRPr kumimoji="0" lang="en-US" sz="4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Oval 14"/>
              <p:cNvSpPr>
                <a:spLocks noChangeArrowheads="1"/>
              </p:cNvSpPr>
              <p:nvPr/>
            </p:nvSpPr>
            <p:spPr bwMode="auto">
              <a:xfrm>
                <a:off x="110366735" y="109037738"/>
                <a:ext cx="1210235" cy="4153816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</a:t>
                </a:r>
                <a:endParaRPr kumimoji="0" lang="en-US" sz="6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1039" name="AutoShape 15"/>
              <p:cNvCxnSpPr>
                <a:cxnSpLocks noChangeShapeType="1"/>
              </p:cNvCxnSpPr>
              <p:nvPr/>
            </p:nvCxnSpPr>
            <p:spPr bwMode="auto">
              <a:xfrm flipV="1">
                <a:off x="109525933" y="110126714"/>
                <a:ext cx="1378324" cy="1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40" name="AutoShape 16"/>
              <p:cNvCxnSpPr>
                <a:cxnSpLocks noChangeShapeType="1"/>
              </p:cNvCxnSpPr>
              <p:nvPr/>
            </p:nvCxnSpPr>
            <p:spPr bwMode="auto">
              <a:xfrm>
                <a:off x="109546463" y="110742414"/>
                <a:ext cx="1351611" cy="330239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41" name="AutoShape 17"/>
              <p:cNvCxnSpPr>
                <a:cxnSpLocks noChangeShapeType="1"/>
              </p:cNvCxnSpPr>
              <p:nvPr/>
            </p:nvCxnSpPr>
            <p:spPr bwMode="auto">
              <a:xfrm flipV="1">
                <a:off x="109598367" y="110342225"/>
                <a:ext cx="1304303" cy="996752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42" name="AutoShape 18"/>
              <p:cNvCxnSpPr>
                <a:cxnSpLocks noChangeShapeType="1"/>
              </p:cNvCxnSpPr>
              <p:nvPr/>
            </p:nvCxnSpPr>
            <p:spPr bwMode="auto">
              <a:xfrm flipV="1">
                <a:off x="109521469" y="111920513"/>
                <a:ext cx="1405218" cy="215154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09230458" y="108303934"/>
              <a:ext cx="370938" cy="5943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110736528" y="108181574"/>
              <a:ext cx="416859" cy="6521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oup 23"/>
          <p:cNvGrpSpPr>
            <a:grpSpLocks/>
          </p:cNvGrpSpPr>
          <p:nvPr/>
        </p:nvGrpSpPr>
        <p:grpSpPr bwMode="auto">
          <a:xfrm>
            <a:off x="6172200" y="2190246"/>
            <a:ext cx="5183188" cy="3146094"/>
            <a:chOff x="108806877" y="108520454"/>
            <a:chExt cx="2689412" cy="2256417"/>
          </a:xfrm>
        </p:grpSpPr>
        <p:sp>
          <p:nvSpPr>
            <p:cNvPr id="1024" name="Oval 24"/>
            <p:cNvSpPr>
              <a:spLocks noChangeArrowheads="1"/>
            </p:cNvSpPr>
            <p:nvPr/>
          </p:nvSpPr>
          <p:spPr bwMode="auto">
            <a:xfrm>
              <a:off x="108806877" y="108988412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</a:t>
              </a:r>
              <a:endPara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5" name="Oval 25"/>
            <p:cNvSpPr>
              <a:spLocks noChangeArrowheads="1"/>
            </p:cNvSpPr>
            <p:nvPr/>
          </p:nvSpPr>
          <p:spPr bwMode="auto">
            <a:xfrm>
              <a:off x="110286054" y="109001859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050" name="AutoShape 26"/>
            <p:cNvCxnSpPr>
              <a:cxnSpLocks noChangeShapeType="1"/>
            </p:cNvCxnSpPr>
            <p:nvPr/>
          </p:nvCxnSpPr>
          <p:spPr bwMode="auto">
            <a:xfrm flipV="1">
              <a:off x="109479229" y="109398547"/>
              <a:ext cx="137832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1051" name="AutoShape 27"/>
            <p:cNvCxnSpPr>
              <a:cxnSpLocks noChangeShapeType="1"/>
            </p:cNvCxnSpPr>
            <p:nvPr/>
          </p:nvCxnSpPr>
          <p:spPr bwMode="auto">
            <a:xfrm>
              <a:off x="109472505" y="109660766"/>
              <a:ext cx="1378324" cy="6723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1052" name="AutoShape 28"/>
            <p:cNvCxnSpPr>
              <a:cxnSpLocks noChangeShapeType="1"/>
            </p:cNvCxnSpPr>
            <p:nvPr/>
          </p:nvCxnSpPr>
          <p:spPr bwMode="auto">
            <a:xfrm flipV="1">
              <a:off x="109445611" y="110141234"/>
              <a:ext cx="1405217" cy="12885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028" name="Rectangle 31"/>
            <p:cNvSpPr>
              <a:spLocks noChangeArrowheads="1"/>
            </p:cNvSpPr>
            <p:nvPr/>
          </p:nvSpPr>
          <p:spPr bwMode="auto">
            <a:xfrm>
              <a:off x="109136329" y="108520454"/>
              <a:ext cx="524435" cy="4141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3" name="Rectangle 32"/>
            <p:cNvSpPr>
              <a:spLocks noChangeArrowheads="1"/>
            </p:cNvSpPr>
            <p:nvPr/>
          </p:nvSpPr>
          <p:spPr bwMode="auto">
            <a:xfrm>
              <a:off x="110642399" y="108564272"/>
              <a:ext cx="416859" cy="3434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057" name="AutoShape 33"/>
            <p:cNvCxnSpPr>
              <a:cxnSpLocks noChangeShapeType="1"/>
            </p:cNvCxnSpPr>
            <p:nvPr/>
          </p:nvCxnSpPr>
          <p:spPr bwMode="auto">
            <a:xfrm>
              <a:off x="109411995" y="109900667"/>
              <a:ext cx="1438833" cy="161654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cxnSp>
        <p:nvCxnSpPr>
          <p:cNvPr id="57" name="AutoShape 15"/>
          <p:cNvCxnSpPr>
            <a:cxnSpLocks noChangeShapeType="1"/>
          </p:cNvCxnSpPr>
          <p:nvPr/>
        </p:nvCxnSpPr>
        <p:spPr bwMode="auto">
          <a:xfrm flipV="1">
            <a:off x="7403205" y="3578422"/>
            <a:ext cx="2594606" cy="50173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6801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CODOMAIN, DOMAIN AND RANGE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Let f be the function defined by the rule f(x)=</a:t>
            </a:r>
            <a:r>
              <a:rPr lang="en-US" dirty="0"/>
              <a:t>X</a:t>
            </a:r>
            <a:r>
              <a:rPr lang="en-US" baseline="30000" dirty="0"/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=Y is  a function  from x to y</a:t>
            </a:r>
          </a:p>
          <a:p>
            <a:pPr marL="0" indent="0">
              <a:buNone/>
            </a:pPr>
            <a:r>
              <a:rPr lang="en-US" dirty="0" smtClean="0"/>
              <a:t>Domain is{0,1,2}</a:t>
            </a:r>
          </a:p>
          <a:p>
            <a:pPr marL="0" indent="0">
              <a:buNone/>
            </a:pPr>
            <a:r>
              <a:rPr lang="en-US" dirty="0" smtClean="0"/>
              <a:t>Codomain is{0,1,2,4,9}</a:t>
            </a:r>
          </a:p>
          <a:p>
            <a:pPr marL="0" indent="0">
              <a:buNone/>
            </a:pPr>
            <a:r>
              <a:rPr lang="en-US" dirty="0" smtClean="0"/>
              <a:t>So f(0)=0 , f(1) =1 and f(2)=4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Range is{0,1,4}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3861481" y="2326520"/>
            <a:ext cx="3051175" cy="1674773"/>
            <a:chOff x="108746365" y="108487701"/>
            <a:chExt cx="3052481" cy="2638794"/>
          </a:xfrm>
        </p:grpSpPr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108746365" y="108487701"/>
              <a:ext cx="874059" cy="621737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setX</a:t>
              </a:r>
              <a:r>
                <a:rPr kumimoji="0" lang="en-US" sz="10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(domain)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108806877" y="108974965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9"/>
            <p:cNvSpPr>
              <a:spLocks noChangeArrowheads="1"/>
            </p:cNvSpPr>
            <p:nvPr/>
          </p:nvSpPr>
          <p:spPr bwMode="auto">
            <a:xfrm>
              <a:off x="110662572" y="108504317"/>
              <a:ext cx="1136274" cy="5849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000" b="1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setY</a:t>
              </a:r>
              <a:r>
                <a:rPr kumimoji="0" lang="en-US" sz="10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(codomain)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110286054" y="108988412"/>
              <a:ext cx="1210235" cy="2138083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9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      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5135" name="AutoShape 15"/>
            <p:cNvCxnSpPr>
              <a:cxnSpLocks noChangeShapeType="1"/>
            </p:cNvCxnSpPr>
            <p:nvPr/>
          </p:nvCxnSpPr>
          <p:spPr bwMode="auto">
            <a:xfrm>
              <a:off x="109479229" y="109364931"/>
              <a:ext cx="1378324" cy="4706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5136" name="AutoShape 16"/>
            <p:cNvCxnSpPr>
              <a:cxnSpLocks noChangeShapeType="1"/>
            </p:cNvCxnSpPr>
            <p:nvPr/>
          </p:nvCxnSpPr>
          <p:spPr bwMode="auto">
            <a:xfrm>
              <a:off x="109479228" y="109667488"/>
              <a:ext cx="1371600" cy="33617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5140" name="AutoShape 20"/>
            <p:cNvCxnSpPr>
              <a:cxnSpLocks noChangeShapeType="1"/>
            </p:cNvCxnSpPr>
            <p:nvPr/>
          </p:nvCxnSpPr>
          <p:spPr bwMode="auto">
            <a:xfrm>
              <a:off x="109459057" y="109976771"/>
              <a:ext cx="1364877" cy="28911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0188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5109"/>
            <a:ext cx="10515600" cy="3474720"/>
          </a:xfrm>
        </p:spPr>
        <p:txBody>
          <a:bodyPr/>
          <a:lstStyle/>
          <a:p>
            <a:pPr marL="0" indent="0">
              <a:buNone/>
            </a:pPr>
            <a:r>
              <a:rPr lang="en-US" sz="4000" b="1" u="sng" dirty="0" smtClean="0"/>
              <a:t>Note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Domain</a:t>
            </a:r>
            <a:r>
              <a:rPr lang="en-US" sz="4000" dirty="0" smtClean="0"/>
              <a:t> are all possible input values.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Codomain</a:t>
            </a:r>
            <a:r>
              <a:rPr lang="en-US" sz="4000" dirty="0" smtClean="0"/>
              <a:t> are the possible out put values.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b="1" dirty="0" smtClean="0"/>
              <a:t>Range </a:t>
            </a:r>
            <a:r>
              <a:rPr lang="en-US" sz="4000" dirty="0" smtClean="0"/>
              <a:t>are all actual out put values in the codomain.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9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u="sng" dirty="0" smtClean="0"/>
              <a:t>INJECTIVE,SURJECTIVE AND BIJECTIVE FUCTIONS</a:t>
            </a:r>
            <a:endParaRPr lang="en-US" sz="40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 smtClean="0"/>
              <a:t>INJECTIVE FUNCTION</a:t>
            </a:r>
            <a:endParaRPr lang="en-US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Also known as (ONE TO ONE)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u="sng" dirty="0" smtClean="0"/>
              <a:t>SURJECTIVE FUNCTION</a:t>
            </a:r>
            <a:endParaRPr lang="en-US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59500" y="2596515"/>
            <a:ext cx="5183188" cy="36845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Also known as </a:t>
            </a:r>
            <a:r>
              <a:rPr lang="en-US" dirty="0" smtClean="0"/>
              <a:t>(ON TO)</a:t>
            </a:r>
          </a:p>
          <a:p>
            <a:endParaRPr lang="en-US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495822" y="3471089"/>
            <a:ext cx="3210003" cy="2521749"/>
            <a:chOff x="108806877" y="108665681"/>
            <a:chExt cx="2689412" cy="2111190"/>
          </a:xfrm>
        </p:grpSpPr>
        <p:sp>
          <p:nvSpPr>
            <p:cNvPr id="8" name="Oval 3"/>
            <p:cNvSpPr>
              <a:spLocks noChangeArrowheads="1"/>
            </p:cNvSpPr>
            <p:nvPr/>
          </p:nvSpPr>
          <p:spPr bwMode="auto">
            <a:xfrm>
              <a:off x="108806877" y="108988412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Oval 4"/>
            <p:cNvSpPr>
              <a:spLocks noChangeArrowheads="1"/>
            </p:cNvSpPr>
            <p:nvPr/>
          </p:nvSpPr>
          <p:spPr bwMode="auto">
            <a:xfrm>
              <a:off x="110286054" y="109001859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9</a:t>
              </a: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0" name="AutoShape 5"/>
            <p:cNvCxnSpPr>
              <a:cxnSpLocks noChangeShapeType="1"/>
            </p:cNvCxnSpPr>
            <p:nvPr/>
          </p:nvCxnSpPr>
          <p:spPr bwMode="auto">
            <a:xfrm flipV="1">
              <a:off x="109479229" y="109398547"/>
              <a:ext cx="137832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6"/>
            <p:cNvCxnSpPr>
              <a:cxnSpLocks noChangeShapeType="1"/>
            </p:cNvCxnSpPr>
            <p:nvPr/>
          </p:nvCxnSpPr>
          <p:spPr bwMode="auto">
            <a:xfrm>
              <a:off x="109472505" y="109660766"/>
              <a:ext cx="1378324" cy="6723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09136329" y="108665681"/>
              <a:ext cx="524435" cy="2528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10642399" y="108675096"/>
              <a:ext cx="416859" cy="232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6" name="AutoShape 11"/>
            <p:cNvCxnSpPr>
              <a:cxnSpLocks noChangeShapeType="1"/>
            </p:cNvCxnSpPr>
            <p:nvPr/>
          </p:nvCxnSpPr>
          <p:spPr bwMode="auto">
            <a:xfrm flipV="1">
              <a:off x="109479229" y="109943153"/>
              <a:ext cx="1378324" cy="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6318577" y="3359313"/>
            <a:ext cx="3789830" cy="2380301"/>
            <a:chOff x="108806877" y="108665681"/>
            <a:chExt cx="2689412" cy="2111190"/>
          </a:xfrm>
        </p:grpSpPr>
        <p:sp>
          <p:nvSpPr>
            <p:cNvPr id="28" name="Oval 3"/>
            <p:cNvSpPr>
              <a:spLocks noChangeArrowheads="1"/>
            </p:cNvSpPr>
            <p:nvPr/>
          </p:nvSpPr>
          <p:spPr bwMode="auto">
            <a:xfrm>
              <a:off x="108806877" y="108988412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Oval 4"/>
            <p:cNvSpPr>
              <a:spLocks noChangeArrowheads="1"/>
            </p:cNvSpPr>
            <p:nvPr/>
          </p:nvSpPr>
          <p:spPr bwMode="auto">
            <a:xfrm>
              <a:off x="110286054" y="109001859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9</a:t>
              </a:r>
              <a:endPara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077" name="AutoShape 5"/>
            <p:cNvCxnSpPr>
              <a:cxnSpLocks noChangeShapeType="1"/>
            </p:cNvCxnSpPr>
            <p:nvPr/>
          </p:nvCxnSpPr>
          <p:spPr bwMode="auto">
            <a:xfrm flipV="1">
              <a:off x="109479229" y="109398547"/>
              <a:ext cx="137832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3078" name="AutoShape 6"/>
            <p:cNvCxnSpPr>
              <a:cxnSpLocks noChangeShapeType="1"/>
            </p:cNvCxnSpPr>
            <p:nvPr/>
          </p:nvCxnSpPr>
          <p:spPr bwMode="auto">
            <a:xfrm>
              <a:off x="109445610" y="109660765"/>
              <a:ext cx="1391771" cy="215152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3072" name="Rectangle 9"/>
            <p:cNvSpPr>
              <a:spLocks noChangeArrowheads="1"/>
            </p:cNvSpPr>
            <p:nvPr/>
          </p:nvSpPr>
          <p:spPr bwMode="auto">
            <a:xfrm>
              <a:off x="109136329" y="108665681"/>
              <a:ext cx="524435" cy="2528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73" name="Rectangle 10"/>
            <p:cNvSpPr>
              <a:spLocks noChangeArrowheads="1"/>
            </p:cNvSpPr>
            <p:nvPr/>
          </p:nvSpPr>
          <p:spPr bwMode="auto">
            <a:xfrm>
              <a:off x="110642399" y="108675096"/>
              <a:ext cx="416859" cy="2326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3083" name="AutoShape 11"/>
            <p:cNvCxnSpPr>
              <a:cxnSpLocks noChangeShapeType="1"/>
            </p:cNvCxnSpPr>
            <p:nvPr/>
          </p:nvCxnSpPr>
          <p:spPr bwMode="auto">
            <a:xfrm flipV="1">
              <a:off x="109459057" y="109956599"/>
              <a:ext cx="1378324" cy="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9691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lgerian" panose="04020705040A02060702" pitchFamily="82" charset="0"/>
              </a:rPr>
              <a:t>Bi –means two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 smtClean="0"/>
              <a:t>BIJECTIVE FUNCTION</a:t>
            </a:r>
            <a:endParaRPr lang="en-US" u="sn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Has both injective and </a:t>
            </a:r>
            <a:r>
              <a:rPr lang="en-US" dirty="0" err="1" smtClean="0"/>
              <a:t>surjective</a:t>
            </a:r>
            <a:r>
              <a:rPr lang="en-US" dirty="0" smtClean="0"/>
              <a:t> features</a:t>
            </a:r>
          </a:p>
          <a:p>
            <a:r>
              <a:rPr lang="en-US" dirty="0" smtClean="0"/>
              <a:t>It is also known as one to one correspondence.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u="sng" dirty="0" smtClean="0"/>
              <a:t>NOT ON TO FUNCTION.</a:t>
            </a:r>
            <a:endParaRPr lang="en-US" u="sng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195" y="2634598"/>
            <a:ext cx="5183188" cy="3684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If an elements in the codomain are left out the function is  “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ot on to </a:t>
            </a:r>
            <a:r>
              <a:rPr lang="en-US" b="1" dirty="0" err="1" smtClean="0">
                <a:solidFill>
                  <a:srgbClr val="FF0000"/>
                </a:solidFill>
              </a:rPr>
              <a:t>fuction</a:t>
            </a:r>
            <a:r>
              <a:rPr lang="en-US" dirty="0" smtClean="0"/>
              <a:t>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Also known as “</a:t>
            </a:r>
            <a:r>
              <a:rPr lang="en-US" b="1" dirty="0" smtClean="0">
                <a:solidFill>
                  <a:srgbClr val="FF0000"/>
                </a:solidFill>
              </a:rPr>
              <a:t>In to</a:t>
            </a:r>
            <a:r>
              <a:rPr lang="en-US" b="1" dirty="0" smtClean="0"/>
              <a:t>” </a:t>
            </a:r>
            <a:r>
              <a:rPr lang="en-US" dirty="0" smtClean="0"/>
              <a:t>function.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947629" y="4300294"/>
            <a:ext cx="4942103" cy="2018863"/>
            <a:chOff x="108901006" y="108392658"/>
            <a:chExt cx="2689412" cy="2310254"/>
          </a:xfrm>
        </p:grpSpPr>
        <p:grpSp>
          <p:nvGrpSpPr>
            <p:cNvPr id="8" name="Group 12"/>
            <p:cNvGrpSpPr>
              <a:grpSpLocks/>
            </p:cNvGrpSpPr>
            <p:nvPr/>
          </p:nvGrpSpPr>
          <p:grpSpPr bwMode="auto">
            <a:xfrm>
              <a:off x="108901006" y="108914453"/>
              <a:ext cx="2689412" cy="1788459"/>
              <a:chOff x="108901006" y="108914453"/>
              <a:chExt cx="2689412" cy="1788459"/>
            </a:xfrm>
          </p:grpSpPr>
          <p:sp>
            <p:nvSpPr>
              <p:cNvPr id="11" name="Oval 13"/>
              <p:cNvSpPr>
                <a:spLocks noChangeArrowheads="1"/>
              </p:cNvSpPr>
              <p:nvPr/>
            </p:nvSpPr>
            <p:spPr bwMode="auto">
              <a:xfrm>
                <a:off x="108901006" y="108914453"/>
                <a:ext cx="1210235" cy="17750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4</a:t>
                </a: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" name="Oval 14"/>
              <p:cNvSpPr>
                <a:spLocks noChangeArrowheads="1"/>
              </p:cNvSpPr>
              <p:nvPr/>
            </p:nvSpPr>
            <p:spPr bwMode="auto">
              <a:xfrm>
                <a:off x="110380183" y="108927900"/>
                <a:ext cx="1210235" cy="17750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</a:t>
                </a: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13" name="AutoShape 15"/>
              <p:cNvCxnSpPr>
                <a:cxnSpLocks noChangeShapeType="1"/>
              </p:cNvCxnSpPr>
              <p:nvPr/>
            </p:nvCxnSpPr>
            <p:spPr bwMode="auto">
              <a:xfrm flipV="1">
                <a:off x="109573358" y="109324588"/>
                <a:ext cx="1378324" cy="1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AutoShape 16"/>
              <p:cNvCxnSpPr>
                <a:cxnSpLocks noChangeShapeType="1"/>
              </p:cNvCxnSpPr>
              <p:nvPr/>
            </p:nvCxnSpPr>
            <p:spPr bwMode="auto">
              <a:xfrm flipV="1">
                <a:off x="109553186" y="109391824"/>
                <a:ext cx="1432113" cy="463925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" name="AutoShape 17"/>
              <p:cNvCxnSpPr>
                <a:cxnSpLocks noChangeShapeType="1"/>
              </p:cNvCxnSpPr>
              <p:nvPr/>
            </p:nvCxnSpPr>
            <p:spPr bwMode="auto">
              <a:xfrm>
                <a:off x="109566634" y="109586807"/>
                <a:ext cx="1378324" cy="6723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AutoShape 18"/>
              <p:cNvCxnSpPr>
                <a:cxnSpLocks noChangeShapeType="1"/>
              </p:cNvCxnSpPr>
              <p:nvPr/>
            </p:nvCxnSpPr>
            <p:spPr bwMode="auto">
              <a:xfrm flipV="1">
                <a:off x="109546464" y="109922982"/>
                <a:ext cx="1405218" cy="215154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9" name="Rectangle 21"/>
            <p:cNvSpPr>
              <a:spLocks noChangeArrowheads="1"/>
            </p:cNvSpPr>
            <p:nvPr/>
          </p:nvSpPr>
          <p:spPr bwMode="auto">
            <a:xfrm>
              <a:off x="109230458" y="108392658"/>
              <a:ext cx="524435" cy="5153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110736528" y="108392658"/>
              <a:ext cx="416859" cy="5153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5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2"/>
          <p:cNvGrpSpPr>
            <a:grpSpLocks/>
          </p:cNvGrpSpPr>
          <p:nvPr/>
        </p:nvGrpSpPr>
        <p:grpSpPr bwMode="auto">
          <a:xfrm>
            <a:off x="7478960" y="4588671"/>
            <a:ext cx="2689225" cy="1754859"/>
            <a:chOff x="108806877" y="108430363"/>
            <a:chExt cx="2689412" cy="2346508"/>
          </a:xfrm>
        </p:grpSpPr>
        <p:sp>
          <p:nvSpPr>
            <p:cNvPr id="20" name="Oval 3"/>
            <p:cNvSpPr>
              <a:spLocks noChangeArrowheads="1"/>
            </p:cNvSpPr>
            <p:nvPr/>
          </p:nvSpPr>
          <p:spPr bwMode="auto">
            <a:xfrm>
              <a:off x="108806877" y="108988412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110286054" y="109001859"/>
              <a:ext cx="1210235" cy="1775012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9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101" name="AutoShape 5"/>
            <p:cNvCxnSpPr>
              <a:cxnSpLocks noChangeShapeType="1"/>
            </p:cNvCxnSpPr>
            <p:nvPr/>
          </p:nvCxnSpPr>
          <p:spPr bwMode="auto">
            <a:xfrm flipV="1">
              <a:off x="109479229" y="109398547"/>
              <a:ext cx="1378324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4102" name="AutoShape 6"/>
            <p:cNvCxnSpPr>
              <a:cxnSpLocks noChangeShapeType="1"/>
            </p:cNvCxnSpPr>
            <p:nvPr/>
          </p:nvCxnSpPr>
          <p:spPr bwMode="auto">
            <a:xfrm>
              <a:off x="109445610" y="109660765"/>
              <a:ext cx="1391771" cy="215152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109136329" y="108430363"/>
              <a:ext cx="524435" cy="4881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110642399" y="108530106"/>
              <a:ext cx="416859" cy="377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     </a:t>
              </a:r>
              <a:r>
                <a: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rgbClr val="0C0C0C"/>
                  </a:solidFill>
                  <a:effectLst/>
                  <a:latin typeface="Algerian" panose="04020705040A02060702" pitchFamily="82" charset="0"/>
                </a:rPr>
                <a:t>B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107" name="AutoShape 11"/>
            <p:cNvCxnSpPr>
              <a:cxnSpLocks noChangeShapeType="1"/>
            </p:cNvCxnSpPr>
            <p:nvPr/>
          </p:nvCxnSpPr>
          <p:spPr bwMode="auto">
            <a:xfrm flipV="1">
              <a:off x="109459057" y="109956599"/>
              <a:ext cx="1378324" cy="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5976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82" y="211015"/>
            <a:ext cx="10515600" cy="200736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3100" dirty="0" smtClean="0">
                <a:latin typeface="Arial" panose="020B0604020202020204" pitchFamily="34" charset="0"/>
                <a:cs typeface="Arial" panose="020B0604020202020204" pitchFamily="34" charset="0"/>
              </a:rPr>
              <a:t>QN.1)</a:t>
            </a: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onsider a function with codomain {</a:t>
            </a:r>
            <a:r>
              <a:rPr lang="en-US" sz="31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a,b,c</a:t>
            </a:r>
            <a:r>
              <a:rPr lang="en-US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} and mapping X-&gt;a for two different inputs, and one input maps to b, but no input to c. classify the function as one of: Onto, not onto, </a:t>
            </a:r>
            <a:r>
              <a:rPr lang="en-US" sz="31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bijective</a:t>
            </a:r>
            <a:r>
              <a:rPr lang="en-US" sz="3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State briefly why.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8068"/>
            <a:ext cx="5849983" cy="3866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Codomain is {</a:t>
            </a:r>
            <a:r>
              <a:rPr lang="en-US" dirty="0" err="1" smtClean="0"/>
              <a:t>a,b,c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Let the two different inputs be 1 and 2</a:t>
            </a:r>
          </a:p>
          <a:p>
            <a:pPr marL="0" indent="0">
              <a:buNone/>
            </a:pPr>
            <a:r>
              <a:rPr lang="en-US" dirty="0" smtClean="0"/>
              <a:t>Let 3 map to b</a:t>
            </a:r>
          </a:p>
          <a:p>
            <a:pPr marL="0" indent="0">
              <a:buNone/>
            </a:pPr>
            <a:r>
              <a:rPr lang="en-US" dirty="0" smtClean="0"/>
              <a:t>Thus the Domain {1,2,3}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983298" y="4544276"/>
            <a:ext cx="3051175" cy="1569153"/>
            <a:chOff x="108746365" y="108531212"/>
            <a:chExt cx="3052481" cy="2622178"/>
          </a:xfrm>
        </p:grpSpPr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108746365" y="108531212"/>
              <a:ext cx="3052481" cy="2622178"/>
              <a:chOff x="108746365" y="108531212"/>
              <a:chExt cx="3052481" cy="2622178"/>
            </a:xfrm>
          </p:grpSpPr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108806877" y="109001860"/>
                <a:ext cx="1210235" cy="1775012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1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2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3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Oval 13"/>
              <p:cNvSpPr>
                <a:spLocks noChangeArrowheads="1"/>
              </p:cNvSpPr>
              <p:nvPr/>
            </p:nvSpPr>
            <p:spPr bwMode="auto">
              <a:xfrm>
                <a:off x="110286054" y="109015307"/>
                <a:ext cx="1210235" cy="2138083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c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b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               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cxnSp>
            <p:nvCxnSpPr>
              <p:cNvPr id="6158" name="AutoShape 14"/>
              <p:cNvCxnSpPr>
                <a:cxnSpLocks noChangeShapeType="1"/>
              </p:cNvCxnSpPr>
              <p:nvPr/>
            </p:nvCxnSpPr>
            <p:spPr bwMode="auto">
              <a:xfrm>
                <a:off x="109479229" y="109391826"/>
                <a:ext cx="1378324" cy="47064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159" name="AutoShape 15"/>
              <p:cNvCxnSpPr>
                <a:cxnSpLocks noChangeShapeType="1"/>
              </p:cNvCxnSpPr>
              <p:nvPr/>
            </p:nvCxnSpPr>
            <p:spPr bwMode="auto">
              <a:xfrm flipV="1">
                <a:off x="109485951" y="109512847"/>
                <a:ext cx="1344706" cy="181536"/>
              </a:xfrm>
              <a:prstGeom prst="straightConnector1">
                <a:avLst/>
              </a:prstGeom>
              <a:noFill/>
              <a:ln w="25400" algn="ctr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108746365" y="108531214"/>
                <a:ext cx="874059" cy="400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1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(domain)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Rectangle 18"/>
              <p:cNvSpPr>
                <a:spLocks noChangeArrowheads="1"/>
              </p:cNvSpPr>
              <p:nvPr/>
            </p:nvSpPr>
            <p:spPr bwMode="auto">
              <a:xfrm>
                <a:off x="110642399" y="108531212"/>
                <a:ext cx="1156447" cy="3899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     </a:t>
                </a:r>
                <a:r>
                  <a:rPr kumimoji="0" lang="en-US" sz="10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(codomain)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6163" name="AutoShape 19"/>
            <p:cNvCxnSpPr>
              <a:cxnSpLocks noChangeShapeType="1"/>
            </p:cNvCxnSpPr>
            <p:nvPr/>
          </p:nvCxnSpPr>
          <p:spPr bwMode="auto">
            <a:xfrm>
              <a:off x="109459057" y="110003666"/>
              <a:ext cx="1364877" cy="289111"/>
            </a:xfrm>
            <a:prstGeom prst="straightConnector1">
              <a:avLst/>
            </a:prstGeom>
            <a:noFill/>
            <a:ln w="25400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sp>
        <p:nvSpPr>
          <p:cNvPr id="17" name="TextBox 16"/>
          <p:cNvSpPr txBox="1"/>
          <p:nvPr/>
        </p:nvSpPr>
        <p:spPr>
          <a:xfrm>
            <a:off x="7044376" y="3472187"/>
            <a:ext cx="47548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Since c is in the codomain is not mapped to any in put of x.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/>
              <a:t>It is “</a:t>
            </a:r>
            <a:r>
              <a:rPr lang="en-US" sz="3200" b="1" dirty="0" smtClean="0">
                <a:solidFill>
                  <a:srgbClr val="C00000"/>
                </a:solidFill>
              </a:rPr>
              <a:t>Not onto function</a:t>
            </a:r>
            <a:r>
              <a:rPr lang="en-US" sz="3200" dirty="0" smtClean="0"/>
              <a:t>” or “</a:t>
            </a:r>
            <a:r>
              <a:rPr lang="en-US" sz="3200" b="1" dirty="0" smtClean="0">
                <a:solidFill>
                  <a:srgbClr val="C00000"/>
                </a:solidFill>
              </a:rPr>
              <a:t>Into function</a:t>
            </a:r>
            <a:r>
              <a:rPr lang="en-US" sz="3200" dirty="0" smtClean="0"/>
              <a:t>”.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2179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ypes of Functions #fun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594" y="653143"/>
            <a:ext cx="9966959" cy="578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02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99698"/>
          </a:xfrm>
        </p:spPr>
        <p:txBody>
          <a:bodyPr/>
          <a:lstStyle/>
          <a:p>
            <a:r>
              <a:rPr lang="en-US" b="1" dirty="0" smtClean="0"/>
              <a:t>Qn.2) identify the function type from its equation y=4X -9.Is it linear? If so, state the slope and intercept.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5269"/>
            <a:ext cx="10515600" cy="32116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</a:t>
            </a:r>
            <a:r>
              <a:rPr lang="en-US" dirty="0" smtClean="0"/>
              <a:t>=4x-9</a:t>
            </a:r>
          </a:p>
          <a:p>
            <a:pPr marL="0" indent="0">
              <a:buNone/>
            </a:pPr>
            <a:r>
              <a:rPr lang="en-US" dirty="0" smtClean="0"/>
              <a:t>Compare with the general equation of a straight line y =mx +c</a:t>
            </a:r>
          </a:p>
          <a:p>
            <a:r>
              <a:rPr lang="en-US" dirty="0" smtClean="0"/>
              <a:t>Slope/gradient, m =4</a:t>
            </a:r>
          </a:p>
          <a:p>
            <a:r>
              <a:rPr lang="en-US" dirty="0" smtClean="0"/>
              <a:t>Intercept, c =-9</a:t>
            </a:r>
          </a:p>
          <a:p>
            <a:pPr marL="0" indent="0">
              <a:buNone/>
            </a:pPr>
            <a:r>
              <a:rPr lang="en-US" dirty="0" smtClean="0"/>
              <a:t>Therefore the function is linear with slope=4 and intercept c =-9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1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Rational and irrational functions</a:t>
            </a:r>
            <a:endParaRPr lang="en-US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u="sng" dirty="0" smtClean="0"/>
                  <a:t>Rational function </a:t>
                </a:r>
                <a:r>
                  <a:rPr lang="en-US" dirty="0" smtClean="0"/>
                  <a:t>is any function that can be written as a fraction.</a:t>
                </a:r>
              </a:p>
              <a:p>
                <a:pPr marL="0" indent="0">
                  <a:buNone/>
                </a:pPr>
                <a:r>
                  <a:rPr lang="en-US" b="1" u="sng" dirty="0" smtClean="0"/>
                  <a:t>Remember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 smtClean="0"/>
                  <a:t> Rational numbers can be expressed in the form</a:t>
                </a:r>
                <a:r>
                  <a:rPr lang="en-US" sz="3200" b="1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den>
                    </m:f>
                  </m:oMath>
                </a14:m>
                <a:r>
                  <a:rPr lang="en-US" sz="3200" dirty="0" smtClean="0"/>
                  <a:t> were P and Q are integers and Q is not Zero.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 smtClean="0"/>
                  <a:t>For irrational numbers they can not be written as a simple fraction their decimal forms goes forever with out repeating or ending </a:t>
                </a:r>
                <a:r>
                  <a:rPr lang="en-US" sz="3200" dirty="0" err="1" smtClean="0"/>
                  <a:t>ie</a:t>
                </a:r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dirty="0" smtClean="0"/>
                  <a:t> and </a:t>
                </a:r>
                <a:r>
                  <a:rPr lang="el-GR" sz="4400" dirty="0" smtClean="0"/>
                  <a:t>π</a:t>
                </a:r>
                <a:endParaRPr lang="en-US" sz="5400" dirty="0"/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2241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52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68491" y="225084"/>
                <a:ext cx="10996678" cy="1814732"/>
              </a:xfrm>
            </p:spPr>
            <p:txBody>
              <a:bodyPr>
                <a:noAutofit/>
              </a:bodyPr>
              <a:lstStyle/>
              <a:p>
                <a:r>
                  <a:rPr lang="en-US" sz="2800" b="1" dirty="0" smtClean="0"/>
                  <a:t>QN.3) identify the function type from its equation:</a:t>
                </a:r>
                <a:r>
                  <a:rPr lang="en-US" sz="2800" b="1" dirty="0"/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800" b="1" dirty="0" smtClean="0"/>
                  <a:t> .state what kind of function it is (rational/reciprocal) and determine the value(s) of x  that are not allowed (domain restriction).</a:t>
                </a:r>
                <a:endParaRPr lang="en-US" sz="2800" b="1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8491" y="225084"/>
                <a:ext cx="10996678" cy="1814732"/>
              </a:xfrm>
              <a:blipFill rotWithShape="0">
                <a:blip r:embed="rId2"/>
                <a:stretch>
                  <a:fillRect l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2869"/>
                <a:ext cx="10515600" cy="4582288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sz="4200" baseline="30000" dirty="0" smtClean="0"/>
                  <a:t>    </a:t>
                </a:r>
                <a:r>
                  <a:rPr lang="en-US" sz="4200" dirty="0" smtClean="0"/>
                  <a:t>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200" b="0" i="1" dirty="0" smtClean="0">
                            <a:latin typeface="Cambria Math" panose="02040503050406030204" pitchFamily="18" charset="0"/>
                          </a:rPr>
                          <m:t>+3</m:t>
                        </m:r>
                      </m:den>
                    </m:f>
                  </m:oMath>
                </a14:m>
                <a:endParaRPr lang="en-US" sz="4200" dirty="0" smtClean="0"/>
              </a:p>
              <a:p>
                <a:pPr marL="0" indent="0">
                  <a:buNone/>
                </a:pPr>
                <a:r>
                  <a:rPr lang="en-US" sz="4200" dirty="0" smtClean="0"/>
                  <a:t>For rational functions </a:t>
                </a:r>
              </a:p>
              <a:p>
                <a:pPr marL="0" indent="0">
                  <a:buNone/>
                </a:pPr>
                <a:r>
                  <a:rPr lang="en-US" sz="4200" baseline="30000" dirty="0" smtClean="0"/>
                  <a:t>x+3≠0 </a:t>
                </a:r>
                <a:r>
                  <a:rPr lang="en-US" sz="4200" dirty="0" smtClean="0"/>
                  <a:t>   </a:t>
                </a:r>
                <a:r>
                  <a:rPr lang="en-US" sz="4200" baseline="30000" dirty="0" smtClean="0"/>
                  <a:t>x≠-3 </a:t>
                </a:r>
              </a:p>
              <a:p>
                <a:pPr marL="0" indent="0">
                  <a:buNone/>
                </a:pPr>
                <a:r>
                  <a:rPr lang="en-US" sz="4200" baseline="30000" dirty="0" smtClean="0"/>
                  <a:t>-∞                                                   +∞</a:t>
                </a:r>
              </a:p>
              <a:p>
                <a:pPr marL="0" indent="0">
                  <a:buNone/>
                </a:pPr>
                <a:r>
                  <a:rPr lang="en-US" sz="4200" baseline="30000" dirty="0" smtClean="0"/>
                  <a:t>Domain should be between</a:t>
                </a:r>
                <a:r>
                  <a:rPr lang="en-US" sz="4200" dirty="0" smtClean="0"/>
                  <a:t> </a:t>
                </a:r>
                <a:r>
                  <a:rPr lang="en-US" sz="4200" baseline="30000" dirty="0" smtClean="0"/>
                  <a:t>- ∞ and -3. Also</a:t>
                </a:r>
                <a:r>
                  <a:rPr lang="en-US" sz="4200" dirty="0"/>
                  <a:t> </a:t>
                </a:r>
                <a:r>
                  <a:rPr lang="en-US" sz="4200" baseline="30000" dirty="0"/>
                  <a:t>between ∞ and </a:t>
                </a:r>
                <a:r>
                  <a:rPr lang="en-US" sz="4200" baseline="30000" dirty="0" smtClean="0"/>
                  <a:t>-3 </a:t>
                </a:r>
              </a:p>
              <a:p>
                <a:pPr marL="0" indent="0">
                  <a:buNone/>
                </a:pPr>
                <a:r>
                  <a:rPr lang="en-US" sz="4200" baseline="30000" dirty="0" smtClean="0"/>
                  <a:t>Written as D(-</a:t>
                </a:r>
                <a:r>
                  <a:rPr lang="en-US" sz="4200" baseline="30000" dirty="0" smtClean="0"/>
                  <a:t> ∞,-3)U(-3, ∞)</a:t>
                </a:r>
              </a:p>
              <a:p>
                <a:pPr marL="0" indent="0">
                  <a:buNone/>
                </a:pPr>
                <a:r>
                  <a:rPr lang="en-US" sz="4200" b="1" baseline="30000" dirty="0">
                    <a:solidFill>
                      <a:srgbClr val="C00000"/>
                    </a:solidFill>
                  </a:rPr>
                  <a:t>U</a:t>
                </a:r>
                <a:r>
                  <a:rPr lang="en-US" sz="4200" baseline="30000" dirty="0"/>
                  <a:t>-for </a:t>
                </a:r>
                <a:r>
                  <a:rPr lang="en-US" sz="4200" b="1" baseline="30000" dirty="0">
                    <a:solidFill>
                      <a:schemeClr val="accent1">
                        <a:lumMod val="50000"/>
                      </a:schemeClr>
                    </a:solidFill>
                  </a:rPr>
                  <a:t>and</a:t>
                </a:r>
                <a:r>
                  <a:rPr lang="en-US" sz="4200" baseline="30000" dirty="0"/>
                  <a:t> or </a:t>
                </a:r>
                <a:r>
                  <a:rPr lang="en-US" sz="4200" b="1" baseline="300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union</a:t>
                </a:r>
              </a:p>
              <a:p>
                <a:pPr marL="0" indent="0">
                  <a:buNone/>
                </a:pPr>
                <a:r>
                  <a:rPr lang="en-US" sz="4200" b="1" dirty="0">
                    <a:solidFill>
                      <a:srgbClr val="C00000"/>
                    </a:solidFill>
                  </a:rPr>
                  <a:t>D</a:t>
                </a:r>
                <a:r>
                  <a:rPr lang="en-US" sz="4200" b="1" dirty="0">
                    <a:solidFill>
                      <a:schemeClr val="accent1">
                        <a:lumMod val="50000"/>
                      </a:schemeClr>
                    </a:solidFill>
                  </a:rPr>
                  <a:t>-</a:t>
                </a:r>
                <a:r>
                  <a:rPr lang="en-US" sz="4200" b="1" dirty="0"/>
                  <a:t>for</a:t>
                </a:r>
                <a:r>
                  <a:rPr lang="en-US" sz="4200" b="1" dirty="0">
                    <a:solidFill>
                      <a:schemeClr val="accent1">
                        <a:lumMod val="50000"/>
                      </a:schemeClr>
                    </a:solidFill>
                  </a:rPr>
                  <a:t> domain</a:t>
                </a:r>
                <a:endParaRPr lang="en-US" sz="4200" b="1" baseline="300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sz="4300" baseline="30000" dirty="0" smtClean="0"/>
              </a:p>
              <a:p>
                <a:pPr marL="0" indent="0">
                  <a:buNone/>
                </a:pPr>
                <a:endParaRPr lang="en-US" sz="4800" baseline="30000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2869"/>
                <a:ext cx="10515600" cy="4582288"/>
              </a:xfrm>
              <a:blipFill rotWithShape="0"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838200" y="3979232"/>
            <a:ext cx="4364038" cy="309562"/>
            <a:chOff x="107690771" y="109990218"/>
            <a:chExt cx="4363570" cy="309281"/>
          </a:xfrm>
        </p:grpSpPr>
        <p:cxnSp>
          <p:nvCxnSpPr>
            <p:cNvPr id="8206" name="AutoShape 14"/>
            <p:cNvCxnSpPr>
              <a:cxnSpLocks noChangeShapeType="1"/>
            </p:cNvCxnSpPr>
            <p:nvPr/>
          </p:nvCxnSpPr>
          <p:spPr bwMode="auto">
            <a:xfrm flipV="1">
              <a:off x="107690771" y="110050729"/>
              <a:ext cx="4363570" cy="1344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109647317" y="110064176"/>
              <a:ext cx="295835" cy="2353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-3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8208" name="AutoShape 16"/>
            <p:cNvCxnSpPr>
              <a:cxnSpLocks noChangeShapeType="1"/>
            </p:cNvCxnSpPr>
            <p:nvPr/>
          </p:nvCxnSpPr>
          <p:spPr bwMode="auto">
            <a:xfrm>
              <a:off x="109701106" y="109990218"/>
              <a:ext cx="6723" cy="13447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70711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10789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Qn.4)A graph passes through (0,2) and (3,5) and is a straight line. Write the equation of the line .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82389"/>
            <a:ext cx="10515600" cy="339457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Equation of A straight line is given by y=</a:t>
            </a:r>
            <a:r>
              <a:rPr lang="en-US" dirty="0" err="1" smtClean="0"/>
              <a:t>mx+c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For(0,2) and (3,5)</a:t>
            </a:r>
          </a:p>
          <a:p>
            <a:pPr marL="0" indent="0" algn="ctr">
              <a:buNone/>
            </a:pPr>
            <a:r>
              <a:rPr lang="en-US" dirty="0" smtClean="0"/>
              <a:t>Using (0,2)</a:t>
            </a:r>
          </a:p>
          <a:p>
            <a:pPr marL="0" indent="0" algn="ctr">
              <a:buNone/>
            </a:pPr>
            <a:r>
              <a:rPr lang="en-US" dirty="0" smtClean="0"/>
              <a:t>X=0 and y =2</a:t>
            </a:r>
          </a:p>
          <a:p>
            <a:pPr marL="0" indent="0" algn="ctr">
              <a:buNone/>
            </a:pPr>
            <a:r>
              <a:rPr lang="en-US" dirty="0" smtClean="0"/>
              <a:t>But y = mx +c</a:t>
            </a:r>
          </a:p>
          <a:p>
            <a:pPr marL="0" indent="0" algn="ctr">
              <a:buNone/>
            </a:pPr>
            <a:r>
              <a:rPr lang="en-US" dirty="0" smtClean="0"/>
              <a:t>2=m(0) +c</a:t>
            </a:r>
          </a:p>
          <a:p>
            <a:pPr marL="0" indent="0" algn="ctr">
              <a:buNone/>
            </a:pPr>
            <a:r>
              <a:rPr lang="en-US" dirty="0" smtClean="0"/>
              <a:t>C=2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3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7017"/>
            <a:ext cx="10515600" cy="5549946"/>
          </a:xfrm>
        </p:spPr>
        <p:txBody>
          <a:bodyPr/>
          <a:lstStyle/>
          <a:p>
            <a:r>
              <a:rPr lang="en-US" dirty="0" smtClean="0"/>
              <a:t>Using c =2 and (3,5)</a:t>
            </a:r>
          </a:p>
          <a:p>
            <a:pPr marL="0" indent="0">
              <a:buNone/>
            </a:pPr>
            <a:r>
              <a:rPr lang="en-US" dirty="0" smtClean="0"/>
              <a:t>X=3 and y=5</a:t>
            </a:r>
          </a:p>
          <a:p>
            <a:pPr marL="0" indent="0">
              <a:buNone/>
            </a:pPr>
            <a:r>
              <a:rPr lang="en-US" dirty="0" smtClean="0"/>
              <a:t>Putting then in </a:t>
            </a:r>
          </a:p>
          <a:p>
            <a:pPr marL="0" indent="0">
              <a:buNone/>
            </a:pPr>
            <a:r>
              <a:rPr lang="en-US" dirty="0" smtClean="0"/>
              <a:t>y=mx +c</a:t>
            </a:r>
          </a:p>
          <a:p>
            <a:pPr marL="0" indent="0">
              <a:buNone/>
            </a:pPr>
            <a:r>
              <a:rPr lang="en-US" dirty="0" smtClean="0"/>
              <a:t>5=m(3)+2</a:t>
            </a:r>
          </a:p>
          <a:p>
            <a:pPr marL="0" indent="0">
              <a:buNone/>
            </a:pPr>
            <a:r>
              <a:rPr lang="en-US" dirty="0" smtClean="0"/>
              <a:t>m= 1</a:t>
            </a:r>
          </a:p>
          <a:p>
            <a:pPr marL="0" indent="0">
              <a:buNone/>
            </a:pPr>
            <a:r>
              <a:rPr lang="en-US" dirty="0" smtClean="0"/>
              <a:t>Thus y=(1)X +2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Y=X +2 is the equation of the line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271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Vertical and horizontal asymptotes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1.Vertical asymptotes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2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Horizontal asymptotes.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41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96948"/>
                <a:ext cx="10515600" cy="2039815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 smtClean="0"/>
                  <a:t>Qn.5)Determine which equation matches a function whose graph has vertical asymptote at x=1 and horizontal asymptote at y=o. chose the correct on. (a)</a:t>
                </a:r>
                <a:r>
                  <a:rPr lang="en-US" sz="3600" b="1" dirty="0"/>
                  <a:t>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3600" b="1" dirty="0"/>
                  <a:t> </a:t>
                </a:r>
                <a:r>
                  <a:rPr lang="en-US" sz="3600" b="1" dirty="0" smtClean="0"/>
                  <a:t> b)</a:t>
                </a:r>
                <a:r>
                  <a:rPr lang="en-US" sz="3600" b="1" dirty="0"/>
                  <a:t>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3600" b="1" dirty="0" smtClean="0"/>
                  <a:t>   c)</a:t>
                </a:r>
                <a:r>
                  <a:rPr lang="en-US" sz="3600" b="1" dirty="0"/>
                  <a:t>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b="1" dirty="0"/>
                  <a:t/>
                </a:r>
                <a:br>
                  <a:rPr lang="en-US" b="1" dirty="0"/>
                </a:br>
                <a:endParaRPr lang="en-US" b="1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96948"/>
                <a:ext cx="10515600" cy="2039815"/>
              </a:xfrm>
              <a:blipFill rotWithShape="0">
                <a:blip r:embed="rId2"/>
                <a:stretch>
                  <a:fillRect l="-1507" t="-8955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38251"/>
                <a:ext cx="10515600" cy="38387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For vertical asymptote denominator = 0</a:t>
                </a:r>
              </a:p>
              <a:p>
                <a:r>
                  <a:rPr lang="en-US" dirty="0" smtClean="0"/>
                  <a:t>For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dirty="0" smtClean="0"/>
                  <a:t>X-1=0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X=1 ,so its true</a:t>
                </a:r>
              </a:p>
              <a:p>
                <a:pPr marL="0" indent="0">
                  <a:buNone/>
                </a:pPr>
                <a:r>
                  <a:rPr lang="en-US" dirty="0" smtClean="0"/>
                  <a:t>For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X+1=0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X=-1 ,so its false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38251"/>
                <a:ext cx="10515600" cy="3838712"/>
              </a:xfrm>
              <a:blipFill rotWithShape="0">
                <a:blip r:embed="rId3"/>
                <a:stretch>
                  <a:fillRect l="-1217" t="-3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067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0263"/>
                <a:ext cx="10515600" cy="57067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For y=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X-1=0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X=1 , it is true</a:t>
                </a:r>
              </a:p>
              <a:p>
                <a:pPr marL="0" indent="0">
                  <a:buNone/>
                </a:pPr>
                <a:r>
                  <a:rPr lang="en-US" dirty="0" smtClean="0"/>
                  <a:t>For </a:t>
                </a:r>
                <a:r>
                  <a:rPr lang="en-US" b="1" dirty="0" smtClean="0"/>
                  <a:t>horizontal asymptote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0263"/>
                <a:ext cx="10515600" cy="5706700"/>
              </a:xfrm>
              <a:blipFill rotWithShape="0">
                <a:blip r:embed="rId2"/>
                <a:stretch>
                  <a:fillRect l="-1217" t="-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34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0"/>
                <a:ext cx="10515600" cy="2461846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3600" b="1" dirty="0" smtClean="0"/>
                  <a:t>Qn.6) For the piecewise function f(x) 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 ›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600" b="1" dirty="0" smtClean="0"/>
                  <a:t/>
                </a:r>
                <a:br>
                  <a:rPr lang="en-US" sz="3600" b="1" dirty="0" smtClean="0"/>
                </a:br>
                <a:r>
                  <a:rPr lang="en-US" sz="3600" b="1" dirty="0" smtClean="0"/>
                  <a:t>compute f(2) and f(3), and check whether the function is continuous at x =2 </a:t>
                </a:r>
                <a:r>
                  <a:rPr lang="en-US" b="1" dirty="0" smtClean="0"/>
                  <a:t/>
                </a:r>
                <a:br>
                  <a:rPr lang="en-US" b="1" dirty="0" smtClean="0"/>
                </a:br>
                <a:endParaRPr lang="en-US" b="1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0"/>
                <a:ext cx="10515600" cy="2461846"/>
              </a:xfrm>
              <a:blipFill rotWithShape="0"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36763"/>
            <a:ext cx="10515600" cy="4220308"/>
          </a:xfrm>
        </p:spPr>
        <p:txBody>
          <a:bodyPr/>
          <a:lstStyle/>
          <a:p>
            <a:r>
              <a:rPr lang="en-US" dirty="0" smtClean="0"/>
              <a:t>For f(2)  x ≤ 2</a:t>
            </a:r>
          </a:p>
          <a:p>
            <a:pPr marL="0" indent="0">
              <a:buNone/>
            </a:pPr>
            <a:r>
              <a:rPr lang="en-US" dirty="0" smtClean="0"/>
              <a:t>f(x) = X+1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f(2)= 2+1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f(2)=3</a:t>
            </a:r>
          </a:p>
          <a:p>
            <a:pPr marL="0" indent="0">
              <a:buNone/>
            </a:pPr>
            <a:r>
              <a:rPr lang="en-US" dirty="0" smtClean="0"/>
              <a:t>For f(3) x›2</a:t>
            </a:r>
          </a:p>
          <a:p>
            <a:pPr marL="0" indent="0">
              <a:buNone/>
            </a:pPr>
            <a:r>
              <a:rPr lang="en-US" dirty="0" smtClean="0"/>
              <a:t>f(x)= 2X-1</a:t>
            </a:r>
          </a:p>
          <a:p>
            <a:pPr marL="0" indent="0">
              <a:buNone/>
            </a:pPr>
            <a:r>
              <a:rPr lang="en-US" dirty="0" smtClean="0"/>
              <a:t>f(3) = 2(2)-1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f(3) =3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7578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00891"/>
                <a:ext cx="10515600" cy="5576072"/>
              </a:xfrm>
            </p:spPr>
            <p:txBody>
              <a:bodyPr/>
              <a:lstStyle/>
              <a:p>
                <a:r>
                  <a:rPr lang="en-US" dirty="0" smtClean="0"/>
                  <a:t>For continuality check at x=2</a:t>
                </a:r>
              </a:p>
              <a:p>
                <a:pPr marL="0" indent="0">
                  <a:buNone/>
                </a:pPr>
                <a:r>
                  <a:rPr lang="en-US" dirty="0" smtClean="0"/>
                  <a:t>Left Hand limit(</a:t>
                </a:r>
                <a:r>
                  <a:rPr lang="en-US" dirty="0" smtClean="0"/>
                  <a:t>x ≤ 2)</a:t>
                </a:r>
                <a:r>
                  <a:rPr lang="en-US" dirty="0" smtClean="0"/>
                  <a:t>= Right hand limit(X&gt;2)</a:t>
                </a:r>
              </a:p>
              <a:p>
                <a:pPr marL="0" indent="0">
                  <a:buNone/>
                </a:pPr>
                <a:r>
                  <a:rPr lang="en-US" dirty="0" smtClean="0"/>
                  <a:t>At x=2</a:t>
                </a:r>
              </a:p>
              <a:p>
                <a:pPr marL="0" indent="0">
                  <a:buNone/>
                </a:pPr>
                <a:r>
                  <a:rPr lang="en-US" dirty="0" smtClean="0"/>
                  <a:t>X+1 should be equal to 2x -3</a:t>
                </a:r>
              </a:p>
              <a:p>
                <a:pPr marL="0" indent="0">
                  <a:buNone/>
                </a:pPr>
                <a:r>
                  <a:rPr lang="en-US" dirty="0" smtClean="0"/>
                  <a:t>X+1 =2x-3</a:t>
                </a:r>
              </a:p>
              <a:p>
                <a:pPr marL="0" indent="0">
                  <a:buNone/>
                </a:pPr>
                <a:r>
                  <a:rPr lang="en-US" dirty="0" smtClean="0"/>
                  <a:t>Putting in 2 for x</a:t>
                </a:r>
              </a:p>
              <a:p>
                <a:pPr marL="0" indent="0">
                  <a:buNone/>
                </a:pPr>
                <a:r>
                  <a:rPr lang="en-US" dirty="0" smtClean="0"/>
                  <a:t>2+1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3≠1 hence no continuality at x=2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00891"/>
                <a:ext cx="10515600" cy="5576072"/>
              </a:xfrm>
              <a:blipFill rotWithShape="0">
                <a:blip r:embed="rId2"/>
                <a:stretch>
                  <a:fillRect l="-1217" t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69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424</TotalTime>
  <Words>817</Words>
  <Application>Microsoft Office PowerPoint</Application>
  <PresentationFormat>Widescreen</PresentationFormat>
  <Paragraphs>227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Algerian</vt:lpstr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RELATIONS AND FUNCTIONS</vt:lpstr>
      <vt:lpstr>PowerPoint Presentation</vt:lpstr>
      <vt:lpstr>CODOMAIN, DOMAIN AND RANGE</vt:lpstr>
      <vt:lpstr>PowerPoint Presentation</vt:lpstr>
      <vt:lpstr>INJECTIVE,SURJECTIVE AND BIJECTIVE FUCTIONS</vt:lpstr>
      <vt:lpstr>Bi –means two</vt:lpstr>
      <vt:lpstr> QN.1)Consider a function with codomain {a,b,c} and mapping X-&gt;a for two different inputs, and one input maps to b, but no input to c. classify the function as one of: Onto, not onto, bijective. State briefly why. </vt:lpstr>
      <vt:lpstr>PowerPoint Presentation</vt:lpstr>
      <vt:lpstr>Qn.2) identify the function type from its equation y=4X -9.Is it linear? If so, state the slope and intercept.</vt:lpstr>
      <vt:lpstr>Rational and irrational functions</vt:lpstr>
      <vt:lpstr>QN.3) identify the function type from its equation:y=2/(x+3) .state what kind of function it is (rational/reciprocal) and determine the value(s) of x  that are not allowed (domain restriction).</vt:lpstr>
      <vt:lpstr>Qn.4)A graph passes through (0,2) and (3,5) and is a straight line. Write the equation of the line .</vt:lpstr>
      <vt:lpstr>PowerPoint Presentation</vt:lpstr>
      <vt:lpstr>Vertical and horizontal asymptotes</vt:lpstr>
      <vt:lpstr>Horizontal asymptotes.</vt:lpstr>
      <vt:lpstr>Qn.5)Determine which equation matches a function whose graph has vertical asymptote at x=1 and horizontal asymptote at y=o. chose the correct on. (a) y=1/(x-1)  b) y=1/(X+1)   c) y=X/(X-1) </vt:lpstr>
      <vt:lpstr>PowerPoint Presentation</vt:lpstr>
      <vt:lpstr>Qn.6) For the piecewise function f(x) ={█(x+1,  x≤2@2x-3,  x ›2)┤ compute f(2) and f(3), and check whether the function is continuous at x =2 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THINKPAD</dc:creator>
  <cp:lastModifiedBy>THINKPAD</cp:lastModifiedBy>
  <cp:revision>56</cp:revision>
  <dcterms:created xsi:type="dcterms:W3CDTF">2026-09-12T18:07:20Z</dcterms:created>
  <dcterms:modified xsi:type="dcterms:W3CDTF">2026-09-13T01:11:23Z</dcterms:modified>
</cp:coreProperties>
</file>