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7" r:id="rId2"/>
    <p:sldId id="296" r:id="rId3"/>
    <p:sldId id="294" r:id="rId4"/>
    <p:sldId id="275" r:id="rId5"/>
    <p:sldId id="276" r:id="rId6"/>
    <p:sldId id="277" r:id="rId7"/>
    <p:sldId id="278" r:id="rId8"/>
    <p:sldId id="279" r:id="rId9"/>
    <p:sldId id="280" r:id="rId10"/>
    <p:sldId id="281" r:id="rId11"/>
    <p:sldId id="282" r:id="rId12"/>
    <p:sldId id="283" r:id="rId13"/>
    <p:sldId id="284" r:id="rId14"/>
    <p:sldId id="285" r:id="rId15"/>
    <p:sldId id="287" r:id="rId16"/>
    <p:sldId id="288" r:id="rId17"/>
    <p:sldId id="290" r:id="rId18"/>
    <p:sldId id="292" r:id="rId19"/>
    <p:sldId id="293" r:id="rId20"/>
    <p:sldId id="295" r:id="rId21"/>
    <p:sldId id="300" r:id="rId22"/>
    <p:sldId id="301" r:id="rId23"/>
    <p:sldId id="302" r:id="rId24"/>
    <p:sldId id="303" r:id="rId25"/>
    <p:sldId id="304" r:id="rId26"/>
    <p:sldId id="270" r:id="rId27"/>
    <p:sldId id="271" r:id="rId28"/>
    <p:sldId id="272" r:id="rId29"/>
    <p:sldId id="273" r:id="rId30"/>
    <p:sldId id="274" r:id="rId31"/>
    <p:sldId id="298" r:id="rId32"/>
    <p:sldId id="29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76FA66-9C2B-4C89-AF60-397CDD3F750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76FA66-9C2B-4C89-AF60-397CDD3F750F}"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476FA66-9C2B-4C89-AF60-397CDD3F750F}"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476FA66-9C2B-4C89-AF60-397CDD3F750F}"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76FA66-9C2B-4C89-AF60-397CDD3F750F}"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476FA66-9C2B-4C89-AF60-397CDD3F750F}"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476FA66-9C2B-4C89-AF60-397CDD3F750F}"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71142-EF77-4ACE-B553-43BAC50633D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76FA66-9C2B-4C89-AF60-397CDD3F750F}" type="datetimeFigureOut">
              <a:rPr lang="en-US" smtClean="0"/>
              <a:t>9/16/2026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17571142-EF77-4ACE-B553-43BAC50633D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624840" y="133985"/>
            <a:ext cx="10367645" cy="2504440"/>
          </a:xfrm>
        </p:spPr>
        <p:txBody>
          <a:bodyPr>
            <a:normAutofit/>
          </a:bodyPr>
          <a:lstStyle/>
          <a:p>
            <a:pPr algn="ctr"/>
            <a:r>
              <a:rPr lang="en-US" altLang="en-GB" sz="2400" b="1" dirty="0">
                <a:sym typeface="+mn-ea"/>
              </a:rPr>
              <a:t>GROUP WORK ASSIGNMENT</a:t>
            </a:r>
            <a:br>
              <a:rPr lang="en-US" altLang="en-GB" sz="2400" b="1" dirty="0">
                <a:sym typeface="+mn-ea"/>
              </a:rPr>
            </a:br>
            <a:r>
              <a:rPr lang="en-US" altLang="en-GB" sz="2400" b="1" dirty="0">
                <a:sym typeface="+mn-ea"/>
              </a:rPr>
              <a:t> FOR  INTRODUCTION TO COMPUTER NETWORKS </a:t>
            </a:r>
            <a:br>
              <a:rPr lang="en-US" altLang="en-GB" sz="2400" b="1" dirty="0">
                <a:sym typeface="+mn-ea"/>
              </a:rPr>
            </a:br>
            <a:r>
              <a:rPr lang="en-US" altLang="en-GB" sz="2400" b="1" dirty="0">
                <a:sym typeface="+mn-ea"/>
              </a:rPr>
              <a:t>COURSE UNIT: IST 11O4</a:t>
            </a:r>
            <a:br>
              <a:rPr lang="en-US" altLang="en-GB" sz="2400" b="1" dirty="0">
                <a:sym typeface="+mn-ea"/>
              </a:rPr>
            </a:br>
            <a:r>
              <a:rPr lang="en-US" altLang="en-GB" sz="2400" b="1" dirty="0">
                <a:sym typeface="+mn-ea"/>
              </a:rPr>
              <a:t>SEMESTER:1</a:t>
            </a:r>
            <a:br>
              <a:rPr lang="en-US" altLang="en-GB" sz="2400" b="1" dirty="0">
                <a:sym typeface="+mn-ea"/>
              </a:rPr>
            </a:br>
            <a:r>
              <a:rPr lang="en-US" altLang="en-GB" sz="2400" b="1" dirty="0">
                <a:sym typeface="+mn-ea"/>
              </a:rPr>
              <a:t>LECTURER: MALE VINCENT</a:t>
            </a:r>
            <a:br>
              <a:rPr lang="en-US" altLang="en-GB" sz="2400" b="1" dirty="0">
                <a:sym typeface="+mn-ea"/>
              </a:rPr>
            </a:br>
            <a:r>
              <a:rPr lang="en-US" altLang="en-GB" sz="2400" b="1" dirty="0">
                <a:sym typeface="+mn-ea"/>
              </a:rPr>
              <a:t>2026 YEAR: 1</a:t>
            </a:r>
            <a:br>
              <a:rPr lang="en-US" altLang="en-GB" sz="2400" b="1" dirty="0">
                <a:sym typeface="+mn-ea"/>
              </a:rPr>
            </a:br>
            <a:r>
              <a:rPr lang="en-US" altLang="en-GB" sz="2400" b="1" dirty="0">
                <a:sym typeface="+mn-ea"/>
              </a:rPr>
              <a:t>BY GROUP 1</a:t>
            </a:r>
            <a:endParaRPr lang="en-GB" altLang="en-US" sz="2400" b="1" dirty="0"/>
          </a:p>
        </p:txBody>
      </p:sp>
      <p:graphicFrame>
        <p:nvGraphicFramePr>
          <p:cNvPr id="6" name="Table 5"/>
          <p:cNvGraphicFramePr/>
          <p:nvPr>
            <p:custDataLst>
              <p:tags r:id="rId1"/>
            </p:custDataLst>
            <p:extLst>
              <p:ext uri="{D42A27DB-BD31-4B8C-83A1-F6EECF244321}">
                <p14:modId xmlns:p14="http://schemas.microsoft.com/office/powerpoint/2010/main" val="2165838465"/>
              </p:ext>
            </p:extLst>
          </p:nvPr>
        </p:nvGraphicFramePr>
        <p:xfrm>
          <a:off x="624840" y="2638427"/>
          <a:ext cx="10502265" cy="4062728"/>
        </p:xfrm>
        <a:graphic>
          <a:graphicData uri="http://schemas.openxmlformats.org/drawingml/2006/table">
            <a:tbl>
              <a:tblPr firstRow="1" bandRow="1">
                <a:tableStyleId>{5C22544A-7EE6-4342-B048-85BDC9FD1C3A}</a:tableStyleId>
              </a:tblPr>
              <a:tblGrid>
                <a:gridCol w="3500755"/>
                <a:gridCol w="3500755"/>
                <a:gridCol w="3500755"/>
              </a:tblGrid>
              <a:tr h="533015">
                <a:tc>
                  <a:txBody>
                    <a:bodyPr/>
                    <a:lstStyle/>
                    <a:p>
                      <a:pPr>
                        <a:buNone/>
                      </a:pPr>
                      <a:r>
                        <a:rPr lang="en-US" altLang="en-GB" sz="1500" dirty="0"/>
                        <a:t>NAME</a:t>
                      </a:r>
                    </a:p>
                  </a:txBody>
                  <a:tcPr/>
                </a:tc>
                <a:tc>
                  <a:txBody>
                    <a:bodyPr/>
                    <a:lstStyle/>
                    <a:p>
                      <a:pPr>
                        <a:buNone/>
                      </a:pPr>
                      <a:r>
                        <a:rPr lang="en-US" altLang="en-GB" sz="1500"/>
                        <a:t>REGESTRATION NO.</a:t>
                      </a:r>
                    </a:p>
                  </a:txBody>
                  <a:tcPr/>
                </a:tc>
                <a:tc>
                  <a:txBody>
                    <a:bodyPr/>
                    <a:lstStyle/>
                    <a:p>
                      <a:pPr>
                        <a:buNone/>
                      </a:pPr>
                      <a:r>
                        <a:rPr lang="en-US" altLang="en-GB" sz="1500"/>
                        <a:t>STUDENT NO:</a:t>
                      </a:r>
                    </a:p>
                  </a:txBody>
                  <a:tcPr/>
                </a:tc>
              </a:tr>
              <a:tr h="580006">
                <a:tc>
                  <a:txBody>
                    <a:bodyPr/>
                    <a:lstStyle/>
                    <a:p>
                      <a:pPr>
                        <a:buNone/>
                      </a:pPr>
                      <a:r>
                        <a:rPr lang="en-US" altLang="en-GB" sz="1500"/>
                        <a:t>AINEBYONA VICTOR</a:t>
                      </a:r>
                    </a:p>
                  </a:txBody>
                  <a:tcPr/>
                </a:tc>
                <a:tc>
                  <a:txBody>
                    <a:bodyPr/>
                    <a:lstStyle/>
                    <a:p>
                      <a:pPr>
                        <a:buNone/>
                      </a:pPr>
                      <a:r>
                        <a:rPr lang="en-US" altLang="en-GB" sz="1500"/>
                        <a:t>26/U/04227/PSA</a:t>
                      </a:r>
                    </a:p>
                  </a:txBody>
                  <a:tcPr/>
                </a:tc>
                <a:tc>
                  <a:txBody>
                    <a:bodyPr/>
                    <a:lstStyle/>
                    <a:p>
                      <a:pPr>
                        <a:buNone/>
                      </a:pPr>
                      <a:r>
                        <a:rPr lang="en-US" altLang="en-GB" sz="1500" dirty="0">
                          <a:sym typeface="+mn-ea"/>
                        </a:rPr>
                        <a:t>2600703692</a:t>
                      </a:r>
                      <a:endParaRPr lang="en-US" altLang="en-GB" sz="1500" dirty="0"/>
                    </a:p>
                    <a:p>
                      <a:pPr>
                        <a:buNone/>
                      </a:pPr>
                      <a:endParaRPr lang="en-US" altLang="en-GB" sz="1500" dirty="0"/>
                    </a:p>
                  </a:txBody>
                  <a:tcPr/>
                </a:tc>
              </a:tr>
              <a:tr h="580006">
                <a:tc>
                  <a:txBody>
                    <a:bodyPr/>
                    <a:lstStyle/>
                    <a:p>
                      <a:pPr>
                        <a:buNone/>
                      </a:pPr>
                      <a:r>
                        <a:rPr lang="en-US" altLang="en-GB" sz="1500">
                          <a:sym typeface="+mn-ea"/>
                        </a:rPr>
                        <a:t>ACHUDA FREDRICK</a:t>
                      </a:r>
                      <a:endParaRPr lang="en-US" altLang="en-GB" sz="1500"/>
                    </a:p>
                    <a:p>
                      <a:pPr>
                        <a:buNone/>
                      </a:pPr>
                      <a:endParaRPr lang="en-US" altLang="en-GB" sz="1500"/>
                    </a:p>
                  </a:txBody>
                  <a:tcPr/>
                </a:tc>
                <a:tc>
                  <a:txBody>
                    <a:bodyPr/>
                    <a:lstStyle/>
                    <a:p>
                      <a:pPr>
                        <a:buNone/>
                      </a:pPr>
                      <a:r>
                        <a:rPr lang="en-US" altLang="en-GB" sz="1500">
                          <a:sym typeface="+mn-ea"/>
                        </a:rPr>
                        <a:t>26/U/29544/PSA</a:t>
                      </a:r>
                      <a:endParaRPr lang="en-US" altLang="en-GB" sz="1500"/>
                    </a:p>
                    <a:p>
                      <a:pPr>
                        <a:buNone/>
                      </a:pPr>
                      <a:endParaRPr lang="en-US" altLang="en-GB" sz="1500"/>
                    </a:p>
                  </a:txBody>
                  <a:tcPr/>
                </a:tc>
                <a:tc>
                  <a:txBody>
                    <a:bodyPr/>
                    <a:lstStyle/>
                    <a:p>
                      <a:pPr>
                        <a:buNone/>
                      </a:pPr>
                      <a:r>
                        <a:rPr lang="en-US" altLang="en-GB" sz="1500">
                          <a:sym typeface="+mn-ea"/>
                        </a:rPr>
                        <a:t>2600729544</a:t>
                      </a:r>
                      <a:endParaRPr lang="en-US" altLang="en-GB" sz="1500"/>
                    </a:p>
                    <a:p>
                      <a:pPr>
                        <a:buNone/>
                      </a:pPr>
                      <a:endParaRPr lang="en-US" altLang="en-GB" sz="1500"/>
                    </a:p>
                  </a:txBody>
                  <a:tcPr/>
                </a:tc>
              </a:tr>
              <a:tr h="580006">
                <a:tc>
                  <a:txBody>
                    <a:bodyPr/>
                    <a:lstStyle/>
                    <a:p>
                      <a:pPr>
                        <a:buNone/>
                      </a:pPr>
                      <a:r>
                        <a:rPr lang="en-US" altLang="en-GB" sz="1500">
                          <a:sym typeface="+mn-ea"/>
                        </a:rPr>
                        <a:t>AKAMPURIRA IAN</a:t>
                      </a:r>
                      <a:endParaRPr lang="en-US" altLang="en-GB" sz="1500"/>
                    </a:p>
                    <a:p>
                      <a:pPr>
                        <a:buNone/>
                      </a:pPr>
                      <a:endParaRPr lang="en-US" altLang="en-GB" sz="1500"/>
                    </a:p>
                  </a:txBody>
                  <a:tcPr/>
                </a:tc>
                <a:tc>
                  <a:txBody>
                    <a:bodyPr/>
                    <a:lstStyle/>
                    <a:p>
                      <a:pPr>
                        <a:buNone/>
                      </a:pPr>
                      <a:r>
                        <a:rPr lang="en-US" altLang="en-GB" sz="1500">
                          <a:sym typeface="+mn-ea"/>
                        </a:rPr>
                        <a:t>26/U/03698/PS</a:t>
                      </a:r>
                      <a:endParaRPr lang="en-US" altLang="en-GB" sz="1500"/>
                    </a:p>
                    <a:p>
                      <a:pPr>
                        <a:buNone/>
                      </a:pPr>
                      <a:endParaRPr lang="en-US" altLang="en-GB" sz="1500"/>
                    </a:p>
                  </a:txBody>
                  <a:tcPr/>
                </a:tc>
                <a:tc>
                  <a:txBody>
                    <a:bodyPr/>
                    <a:lstStyle/>
                    <a:p>
                      <a:pPr>
                        <a:buNone/>
                      </a:pPr>
                      <a:r>
                        <a:rPr lang="en-US" altLang="en-GB" sz="1500" dirty="0">
                          <a:sym typeface="+mn-ea"/>
                        </a:rPr>
                        <a:t>2600703698</a:t>
                      </a:r>
                      <a:endParaRPr lang="en-US" altLang="en-GB" sz="1500" dirty="0"/>
                    </a:p>
                    <a:p>
                      <a:pPr>
                        <a:buNone/>
                      </a:pPr>
                      <a:endParaRPr lang="en-US" altLang="en-GB" sz="1500" dirty="0"/>
                    </a:p>
                  </a:txBody>
                  <a:tcPr/>
                </a:tc>
              </a:tr>
              <a:tr h="580006">
                <a:tc>
                  <a:txBody>
                    <a:bodyPr/>
                    <a:lstStyle/>
                    <a:p>
                      <a:pPr>
                        <a:buNone/>
                      </a:pPr>
                      <a:r>
                        <a:rPr lang="en-US" altLang="en-GB" sz="1500">
                          <a:sym typeface="+mn-ea"/>
                        </a:rPr>
                        <a:t>ODOI VINCENT </a:t>
                      </a:r>
                      <a:endParaRPr lang="en-US" altLang="en-GB" sz="1500"/>
                    </a:p>
                    <a:p>
                      <a:pPr>
                        <a:buNone/>
                      </a:pPr>
                      <a:endParaRPr lang="en-US" altLang="en-GB" sz="1500"/>
                    </a:p>
                  </a:txBody>
                  <a:tcPr/>
                </a:tc>
                <a:tc>
                  <a:txBody>
                    <a:bodyPr/>
                    <a:lstStyle/>
                    <a:p>
                      <a:pPr>
                        <a:buNone/>
                      </a:pPr>
                      <a:r>
                        <a:rPr lang="en-US" altLang="en-GB" sz="1500">
                          <a:sym typeface="+mn-ea"/>
                        </a:rPr>
                        <a:t>26/U/04111/PSA</a:t>
                      </a:r>
                      <a:endParaRPr lang="en-US" altLang="en-GB" sz="1500"/>
                    </a:p>
                    <a:p>
                      <a:pPr>
                        <a:buNone/>
                      </a:pPr>
                      <a:endParaRPr lang="en-US" altLang="en-GB" sz="1500"/>
                    </a:p>
                  </a:txBody>
                  <a:tcPr/>
                </a:tc>
                <a:tc>
                  <a:txBody>
                    <a:bodyPr/>
                    <a:lstStyle/>
                    <a:p>
                      <a:pPr>
                        <a:buNone/>
                      </a:pPr>
                      <a:r>
                        <a:rPr lang="en-US" altLang="en-GB" sz="1500"/>
                        <a:t>2600704111</a:t>
                      </a:r>
                    </a:p>
                    <a:p>
                      <a:pPr>
                        <a:buNone/>
                      </a:pPr>
                      <a:endParaRPr lang="en-US" altLang="en-GB" sz="1500"/>
                    </a:p>
                  </a:txBody>
                  <a:tcPr/>
                </a:tc>
              </a:tr>
              <a:tr h="533015">
                <a:tc>
                  <a:txBody>
                    <a:bodyPr/>
                    <a:lstStyle/>
                    <a:p>
                      <a:pPr>
                        <a:buNone/>
                      </a:pPr>
                      <a:r>
                        <a:rPr lang="en-US" altLang="en-GB" sz="1500"/>
                        <a:t>ABOKU GEORGE PHILIP</a:t>
                      </a:r>
                    </a:p>
                  </a:txBody>
                  <a:tcPr/>
                </a:tc>
                <a:tc>
                  <a:txBody>
                    <a:bodyPr/>
                    <a:lstStyle/>
                    <a:p>
                      <a:pPr>
                        <a:buNone/>
                      </a:pPr>
                      <a:r>
                        <a:rPr lang="en-US" altLang="en-GB" sz="1500"/>
                        <a:t>26/U/03678/PSA</a:t>
                      </a:r>
                    </a:p>
                  </a:txBody>
                  <a:tcPr/>
                </a:tc>
                <a:tc>
                  <a:txBody>
                    <a:bodyPr/>
                    <a:lstStyle/>
                    <a:p>
                      <a:pPr>
                        <a:buNone/>
                      </a:pPr>
                      <a:r>
                        <a:rPr lang="en-US" altLang="en-GB" sz="1500"/>
                        <a:t>2600703678</a:t>
                      </a:r>
                    </a:p>
                  </a:txBody>
                  <a:tcPr/>
                </a:tc>
              </a:tr>
              <a:tr h="338337">
                <a:tc>
                  <a:txBody>
                    <a:bodyPr/>
                    <a:lstStyle/>
                    <a:p>
                      <a:pPr>
                        <a:buNone/>
                      </a:pPr>
                      <a:r>
                        <a:rPr lang="en-US" altLang="en-GB" sz="1500" dirty="0"/>
                        <a:t>WAMANGA SHAMIHA</a:t>
                      </a:r>
                    </a:p>
                  </a:txBody>
                  <a:tcPr/>
                </a:tc>
                <a:tc>
                  <a:txBody>
                    <a:bodyPr/>
                    <a:lstStyle/>
                    <a:p>
                      <a:pPr>
                        <a:buNone/>
                      </a:pPr>
                      <a:r>
                        <a:rPr lang="en-US" altLang="en-GB" sz="1500" dirty="0"/>
                        <a:t>26/U/04227/PS</a:t>
                      </a:r>
                    </a:p>
                  </a:txBody>
                  <a:tcPr/>
                </a:tc>
                <a:tc>
                  <a:txBody>
                    <a:bodyPr/>
                    <a:lstStyle/>
                    <a:p>
                      <a:pPr>
                        <a:buNone/>
                      </a:pPr>
                      <a:r>
                        <a:rPr lang="en-US" altLang="en-GB" sz="1500" dirty="0"/>
                        <a:t>2600704227</a:t>
                      </a:r>
                    </a:p>
                  </a:txBody>
                  <a:tcPr/>
                </a:tc>
              </a:tr>
              <a:tr h="338337">
                <a:tc>
                  <a:txBody>
                    <a:bodyPr/>
                    <a:lstStyle/>
                    <a:p>
                      <a:pPr>
                        <a:buNone/>
                      </a:pPr>
                      <a:r>
                        <a:rPr lang="en-US" altLang="en-GB" sz="1500" dirty="0" smtClean="0"/>
                        <a:t>OKELLO VIVIAN</a:t>
                      </a:r>
                      <a:endParaRPr lang="en-US" altLang="en-GB" sz="1500" dirty="0"/>
                    </a:p>
                  </a:txBody>
                  <a:tcPr/>
                </a:tc>
                <a:tc>
                  <a:txBody>
                    <a:bodyPr/>
                    <a:lstStyle/>
                    <a:p>
                      <a:pPr>
                        <a:buNone/>
                      </a:pPr>
                      <a:endParaRPr lang="en-US" altLang="en-GB" sz="1500" dirty="0"/>
                    </a:p>
                  </a:txBody>
                  <a:tcPr/>
                </a:tc>
                <a:tc>
                  <a:txBody>
                    <a:bodyPr/>
                    <a:lstStyle/>
                    <a:p>
                      <a:pPr>
                        <a:buNone/>
                      </a:pPr>
                      <a:endParaRPr lang="en-US" altLang="en-GB" sz="1500" dirty="0"/>
                    </a:p>
                  </a:txBody>
                  <a:tcPr/>
                </a:tc>
              </a:tr>
            </a:tbl>
          </a:graphicData>
        </a:graphic>
      </p:graphicFrame>
    </p:spTree>
    <p:extLst>
      <p:ext uri="{BB962C8B-B14F-4D97-AF65-F5344CB8AC3E}">
        <p14:creationId xmlns:p14="http://schemas.microsoft.com/office/powerpoint/2010/main" val="3010739692"/>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Guided transmission media</a:t>
            </a:r>
            <a:endParaRPr lang="en-US" dirty="0"/>
          </a:p>
        </p:txBody>
      </p:sp>
      <p:sp>
        <p:nvSpPr>
          <p:cNvPr id="3" name="Content Placeholder 2"/>
          <p:cNvSpPr>
            <a:spLocks noGrp="1"/>
          </p:cNvSpPr>
          <p:nvPr>
            <p:ph sz="quarter" idx="13"/>
          </p:nvPr>
        </p:nvSpPr>
        <p:spPr/>
        <p:txBody>
          <a:bodyPr>
            <a:normAutofit lnSpcReduction="10000"/>
          </a:bodyPr>
          <a:lstStyle/>
          <a:p>
            <a:pPr marL="0" indent="0">
              <a:buNone/>
            </a:pPr>
            <a:r>
              <a:rPr lang="en-US" sz="2400" b="1" dirty="0"/>
              <a:t>Guided transmission </a:t>
            </a:r>
            <a:r>
              <a:rPr lang="en-US" sz="2400" b="1" dirty="0" smtClean="0"/>
              <a:t>media</a:t>
            </a:r>
          </a:p>
          <a:p>
            <a:pPr marL="0" indent="0">
              <a:buNone/>
            </a:pPr>
            <a:r>
              <a:rPr lang="en-US" sz="2400" cap="none" dirty="0" smtClean="0"/>
              <a:t> Is a physical communication channel in which signals travel through a solid path, such as cables. </a:t>
            </a:r>
          </a:p>
          <a:p>
            <a:pPr marL="0" indent="0">
              <a:buNone/>
            </a:pPr>
            <a:r>
              <a:rPr lang="en-US" sz="2400" b="1" dirty="0" smtClean="0"/>
              <a:t>UNGUIDED </a:t>
            </a:r>
            <a:r>
              <a:rPr lang="en-US" sz="2400" b="1" dirty="0"/>
              <a:t>TANSMISIION </a:t>
            </a:r>
            <a:r>
              <a:rPr lang="en-US" sz="2400" b="1" dirty="0" smtClean="0"/>
              <a:t>MEDIA</a:t>
            </a:r>
          </a:p>
          <a:p>
            <a:pPr marL="0" indent="0">
              <a:buNone/>
            </a:pPr>
            <a:r>
              <a:rPr lang="en-US" sz="2400" cap="none" dirty="0"/>
              <a:t>Unguided media transport electromagnetic waves without using a physical conductor. This type of communication is often referred to as wireless communication. </a:t>
            </a:r>
          </a:p>
          <a:p>
            <a:pPr marL="0" indent="0">
              <a:buNone/>
            </a:pPr>
            <a:endParaRPr lang="en-US" b="1"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528892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Qn.1 DIFFERENCE </a:t>
            </a:r>
            <a:r>
              <a:rPr lang="en-US" b="1" dirty="0"/>
              <a:t>BETWEEN GUIDED AND UNGUIDED TRANSMISSION MEDIA</a:t>
            </a:r>
            <a:r>
              <a:rPr lang="en-US" dirty="0"/>
              <a:t/>
            </a:r>
            <a:br>
              <a:rPr lang="en-US" dirty="0"/>
            </a:br>
            <a:endParaRPr lang="en-US"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100301838"/>
              </p:ext>
            </p:extLst>
          </p:nvPr>
        </p:nvGraphicFramePr>
        <p:xfrm>
          <a:off x="1551709" y="1852942"/>
          <a:ext cx="9310255" cy="4026905"/>
        </p:xfrm>
        <a:graphic>
          <a:graphicData uri="http://schemas.openxmlformats.org/drawingml/2006/table">
            <a:tbl>
              <a:tblPr>
                <a:tableStyleId>{08FB837D-C827-4EFA-A057-4D05807E0F7C}</a:tableStyleId>
              </a:tblPr>
              <a:tblGrid>
                <a:gridCol w="4585855"/>
                <a:gridCol w="4724400"/>
              </a:tblGrid>
              <a:tr h="272131">
                <a:tc>
                  <a:txBody>
                    <a:bodyPr/>
                    <a:lstStyle/>
                    <a:p>
                      <a:pPr>
                        <a:lnSpc>
                          <a:spcPct val="107000"/>
                        </a:lnSpc>
                        <a:spcAft>
                          <a:spcPts val="800"/>
                        </a:spcAft>
                      </a:pPr>
                      <a:r>
                        <a:rPr lang="en-US" sz="2000" b="1" dirty="0">
                          <a:solidFill>
                            <a:schemeClr val="tx1"/>
                          </a:solidFill>
                          <a:effectLst/>
                        </a:rPr>
                        <a:t>GUIDED TRANSMISSION MEDIA</a:t>
                      </a:r>
                      <a:endParaRPr lang="en-US" sz="2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b="1" dirty="0">
                          <a:effectLst/>
                        </a:rPr>
                        <a:t>UNGUIDED TANSMISIION MEDIA</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Here, data travels through a physical cable or wire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a:effectLst/>
                        </a:rPr>
                        <a:t>Data travels through free space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It’s also called wired transmission media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a:effectLst/>
                        </a:rPr>
                        <a:t>It’s also called wireless transmission media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dirty="0">
                          <a:effectLst/>
                        </a:rPr>
                        <a:t>It’s more secure because physical access to a cable is required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It’s more vulnerable to interception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57263">
                <a:tc>
                  <a:txBody>
                    <a:bodyPr/>
                    <a:lstStyle/>
                    <a:p>
                      <a:pPr>
                        <a:lnSpc>
                          <a:spcPct val="107000"/>
                        </a:lnSpc>
                        <a:spcAft>
                          <a:spcPts val="800"/>
                        </a:spcAft>
                      </a:pPr>
                      <a:r>
                        <a:rPr lang="en-US" sz="2000">
                          <a:effectLst/>
                        </a:rPr>
                        <a:t>Installation can be difficult and expensive over a long distance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Easier to deploy where cables are difficult to install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01549">
                <a:tc>
                  <a:txBody>
                    <a:bodyPr/>
                    <a:lstStyle/>
                    <a:p>
                      <a:pPr>
                        <a:lnSpc>
                          <a:spcPct val="107000"/>
                        </a:lnSpc>
                        <a:spcAft>
                          <a:spcPts val="800"/>
                        </a:spcAft>
                      </a:pPr>
                      <a:r>
                        <a:rPr lang="en-US" sz="2000">
                          <a:effectLst/>
                        </a:rPr>
                        <a:t>Examples include; twisted cable, coaxial cable, and fiber-cable.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2000" dirty="0">
                          <a:effectLst/>
                        </a:rPr>
                        <a:t>Examples include ; satellite communication, radio waves, microwaves</a:t>
                      </a:r>
                    </a:p>
                    <a:p>
                      <a:pPr>
                        <a:lnSpc>
                          <a:spcPct val="107000"/>
                        </a:lnSpc>
                        <a:spcAft>
                          <a:spcPts val="800"/>
                        </a:spcAft>
                      </a:pPr>
                      <a:r>
                        <a:rPr lang="en-US" sz="2000" dirty="0">
                          <a:effectLst/>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8451943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t>
            </a:r>
            <a:r>
              <a:rPr lang="en-US" b="1" dirty="0" smtClean="0"/>
              <a:t>Qn.2</a:t>
            </a:r>
            <a:r>
              <a:rPr lang="en-US" b="1" dirty="0"/>
              <a:t>. Using illustrations, discuss the various types of guided and unguided transmission media</a:t>
            </a:r>
            <a:r>
              <a:rPr lang="en-US" dirty="0"/>
              <a:t/>
            </a:r>
            <a:br>
              <a:rPr lang="en-US" dirty="0"/>
            </a:br>
            <a:endParaRPr lang="en-US" dirty="0"/>
          </a:p>
        </p:txBody>
      </p:sp>
      <p:sp>
        <p:nvSpPr>
          <p:cNvPr id="3" name="Content Placeholder 2"/>
          <p:cNvSpPr>
            <a:spLocks noGrp="1"/>
          </p:cNvSpPr>
          <p:nvPr>
            <p:ph sz="quarter" idx="13"/>
          </p:nvPr>
        </p:nvSpPr>
        <p:spPr>
          <a:xfrm>
            <a:off x="913774" y="2008909"/>
            <a:ext cx="10363826" cy="4197927"/>
          </a:xfrm>
        </p:spPr>
        <p:txBody>
          <a:bodyPr>
            <a:normAutofit/>
          </a:bodyPr>
          <a:lstStyle/>
          <a:p>
            <a:pPr marL="0" indent="0">
              <a:buNone/>
            </a:pPr>
            <a:r>
              <a:rPr lang="en-US" sz="2400" b="1" cap="none" dirty="0" smtClean="0"/>
              <a:t> GUIDED MEDIA</a:t>
            </a:r>
            <a:r>
              <a:rPr lang="en-US" sz="2400" cap="none" dirty="0" smtClean="0"/>
              <a:t>, </a:t>
            </a:r>
            <a:r>
              <a:rPr lang="en-US" sz="2400" cap="none" dirty="0" smtClean="0"/>
              <a:t> </a:t>
            </a:r>
            <a:r>
              <a:rPr lang="en-US" sz="2400" cap="none" dirty="0" smtClean="0"/>
              <a:t>a</a:t>
            </a:r>
            <a:r>
              <a:rPr lang="en-US" sz="2400" cap="none" dirty="0" smtClean="0"/>
              <a:t>re </a:t>
            </a:r>
            <a:r>
              <a:rPr lang="en-US" sz="2400" cap="none" dirty="0" smtClean="0"/>
              <a:t>those that provide a medium from one device to another</a:t>
            </a:r>
          </a:p>
          <a:p>
            <a:pPr marL="0" indent="0">
              <a:buNone/>
            </a:pPr>
            <a:r>
              <a:rPr lang="en-US" sz="2400" b="1" cap="none" dirty="0" smtClean="0"/>
              <a:t> Include; </a:t>
            </a:r>
            <a:r>
              <a:rPr lang="en-US" sz="2400" cap="none" dirty="0" smtClean="0"/>
              <a:t>Twisted-pair </a:t>
            </a:r>
            <a:r>
              <a:rPr lang="en-US" sz="2400" cap="none" dirty="0" smtClean="0"/>
              <a:t>cable, coaxial cable, and fiber-optic cable. </a:t>
            </a:r>
            <a:endParaRPr lang="en-US" sz="2400" cap="none" dirty="0" smtClean="0"/>
          </a:p>
          <a:p>
            <a:pPr marL="0" indent="0">
              <a:buNone/>
            </a:pPr>
            <a:r>
              <a:rPr lang="en-US" sz="2400" b="1" cap="none" dirty="0" smtClean="0">
                <a:solidFill>
                  <a:schemeClr val="accent3">
                    <a:lumMod val="75000"/>
                  </a:schemeClr>
                </a:solidFill>
              </a:rPr>
              <a:t>TWISTED-PAIR CABLE:</a:t>
            </a:r>
          </a:p>
          <a:p>
            <a:pPr>
              <a:buFont typeface="Wingdings" panose="05000000000000000000" pitchFamily="2" charset="2"/>
              <a:buChar char="Ø"/>
            </a:pPr>
            <a:r>
              <a:rPr lang="en-US" sz="2400" b="1" cap="none" dirty="0" smtClean="0"/>
              <a:t> </a:t>
            </a:r>
            <a:r>
              <a:rPr lang="en-US" sz="2400" cap="none" dirty="0" smtClean="0"/>
              <a:t>A </a:t>
            </a:r>
            <a:r>
              <a:rPr lang="en-US" sz="2400" cap="none" dirty="0" smtClean="0"/>
              <a:t>twisted pair consists of two conductors (normally copper), each with its own plastic insulation, twisted together. </a:t>
            </a:r>
            <a:endParaRPr lang="en-US" sz="2400" cap="none" dirty="0" smtClean="0"/>
          </a:p>
          <a:p>
            <a:pPr>
              <a:buFont typeface="Wingdings" panose="05000000000000000000" pitchFamily="2" charset="2"/>
              <a:buChar char="Ø"/>
            </a:pPr>
            <a:r>
              <a:rPr lang="en-US" sz="2400" cap="none" dirty="0" smtClean="0"/>
              <a:t>One </a:t>
            </a:r>
            <a:r>
              <a:rPr lang="en-US" sz="2400" cap="none" dirty="0" smtClean="0"/>
              <a:t>of the wires is used to carry signals to the receiver, and the other is used only as a ground reference.</a:t>
            </a:r>
          </a:p>
          <a:p>
            <a:endParaRPr lang="en-US" cap="none" dirty="0"/>
          </a:p>
        </p:txBody>
      </p:sp>
    </p:spTree>
    <p:extLst>
      <p:ext uri="{BB962C8B-B14F-4D97-AF65-F5344CB8AC3E}">
        <p14:creationId xmlns:p14="http://schemas.microsoft.com/office/powerpoint/2010/main" val="2343981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smtClean="0"/>
              <a:t>TWISTED-PAIR CABLE</a:t>
            </a:r>
            <a:endParaRPr lang="en-US" b="1"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410691" y="2507673"/>
            <a:ext cx="7065817" cy="3103418"/>
          </a:xfrm>
          <a:prstGeom prst="rect">
            <a:avLst/>
          </a:prstGeom>
        </p:spPr>
      </p:pic>
    </p:spTree>
    <p:extLst>
      <p:ext uri="{BB962C8B-B14F-4D97-AF65-F5344CB8AC3E}">
        <p14:creationId xmlns:p14="http://schemas.microsoft.com/office/powerpoint/2010/main" val="3273761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Unshielded Versus Shielded Twisted-Pair Cable </a:t>
            </a:r>
            <a:r>
              <a:rPr lang="en-US" dirty="0"/>
              <a:t/>
            </a:r>
            <a:br>
              <a:rPr lang="en-US" dirty="0"/>
            </a:br>
            <a:endParaRPr lang="en-US" dirty="0"/>
          </a:p>
        </p:txBody>
      </p:sp>
      <p:sp>
        <p:nvSpPr>
          <p:cNvPr id="3" name="Content Placeholder 2"/>
          <p:cNvSpPr>
            <a:spLocks noGrp="1"/>
          </p:cNvSpPr>
          <p:nvPr>
            <p:ph sz="quarter" idx="13"/>
          </p:nvPr>
        </p:nvSpPr>
        <p:spPr/>
        <p:txBody>
          <a:bodyPr>
            <a:normAutofit/>
          </a:bodyPr>
          <a:lstStyle/>
          <a:p>
            <a:r>
              <a:rPr lang="en-US" sz="2800" cap="none" dirty="0" smtClean="0"/>
              <a:t>The most common twisted-pair cable used in communications is referred to as </a:t>
            </a:r>
            <a:r>
              <a:rPr lang="en-US" sz="2800" b="1" cap="none" dirty="0" smtClean="0"/>
              <a:t>unshielded twisted-pair</a:t>
            </a:r>
            <a:r>
              <a:rPr lang="en-US" sz="2800" cap="none" dirty="0" smtClean="0"/>
              <a:t> (UTP). </a:t>
            </a:r>
            <a:endParaRPr lang="en-US" sz="2800" cap="none" dirty="0" smtClean="0"/>
          </a:p>
          <a:p>
            <a:r>
              <a:rPr lang="en-US" sz="2800" cap="none" dirty="0" smtClean="0"/>
              <a:t>STP </a:t>
            </a:r>
            <a:r>
              <a:rPr lang="en-US" sz="2800" cap="none" dirty="0" smtClean="0"/>
              <a:t>cable has a metal foil or braided mesh covering that encases each pair of insulated conductors. Although metal casing improves the quality of cable by preventing the penetration of noise or crosstalk, it is bulkier and more expensive.</a:t>
            </a:r>
          </a:p>
          <a:p>
            <a:endParaRPr lang="en-US" sz="2800" cap="none" dirty="0"/>
          </a:p>
        </p:txBody>
      </p:sp>
    </p:spTree>
    <p:extLst>
      <p:ext uri="{BB962C8B-B14F-4D97-AF65-F5344CB8AC3E}">
        <p14:creationId xmlns:p14="http://schemas.microsoft.com/office/powerpoint/2010/main" val="3786724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most common UTP connector is </a:t>
            </a:r>
            <a:r>
              <a:rPr lang="en-US" b="1" dirty="0" smtClean="0"/>
              <a:t>RJ45</a:t>
            </a:r>
            <a:br>
              <a:rPr lang="en-US" b="1" dirty="0" smtClean="0"/>
            </a:br>
            <a:r>
              <a:rPr lang="en-US" b="1" dirty="0" smtClean="0"/>
              <a:t> </a:t>
            </a:r>
            <a:r>
              <a:rPr lang="en-US" b="1" dirty="0"/>
              <a:t>(RJ stands for registered jack) </a:t>
            </a:r>
            <a:br>
              <a:rPr lang="en-US" b="1" dirty="0"/>
            </a:br>
            <a:endParaRPr lang="en-US" b="1"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147455" y="2214694"/>
            <a:ext cx="8132618" cy="3437961"/>
          </a:xfrm>
          <a:prstGeom prst="rect">
            <a:avLst/>
          </a:prstGeom>
        </p:spPr>
      </p:pic>
    </p:spTree>
    <p:extLst>
      <p:ext uri="{BB962C8B-B14F-4D97-AF65-F5344CB8AC3E}">
        <p14:creationId xmlns:p14="http://schemas.microsoft.com/office/powerpoint/2010/main" val="3698916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b="1" dirty="0"/>
              <a:t>Applications</a:t>
            </a:r>
            <a:r>
              <a:rPr lang="en-US" sz="2400" dirty="0"/>
              <a:t/>
            </a:r>
            <a:br>
              <a:rPr lang="en-US" sz="2400" dirty="0"/>
            </a:br>
            <a:r>
              <a:rPr lang="en-US" sz="2400" cap="none" dirty="0" smtClean="0"/>
              <a:t> Twisted-pair cables are used in telephone lines to provide voice and data channels. Local-area networks, such as l0base-t and l00base-t, also use twisted-pair cables</a:t>
            </a:r>
            <a:r>
              <a:rPr lang="en-US" sz="2400" dirty="0" smtClean="0"/>
              <a:t>.</a:t>
            </a:r>
            <a:r>
              <a:rPr lang="en-US" sz="2400" dirty="0"/>
              <a:t/>
            </a:r>
            <a:br>
              <a:rPr lang="en-US" sz="2400" dirty="0"/>
            </a:br>
            <a:endParaRPr lang="en-US" sz="2400" dirty="0"/>
          </a:p>
        </p:txBody>
      </p:sp>
      <p:sp>
        <p:nvSpPr>
          <p:cNvPr id="3" name="Content Placeholder 2"/>
          <p:cNvSpPr>
            <a:spLocks noGrp="1"/>
          </p:cNvSpPr>
          <p:nvPr>
            <p:ph sz="quarter" idx="13"/>
          </p:nvPr>
        </p:nvSpPr>
        <p:spPr>
          <a:xfrm>
            <a:off x="913774" y="2367092"/>
            <a:ext cx="10363826" cy="3978290"/>
          </a:xfrm>
        </p:spPr>
        <p:txBody>
          <a:bodyPr>
            <a:normAutofit fontScale="92500" lnSpcReduction="20000"/>
          </a:bodyPr>
          <a:lstStyle/>
          <a:p>
            <a:pPr marL="0" indent="0">
              <a:buNone/>
            </a:pPr>
            <a:r>
              <a:rPr lang="en-US" dirty="0">
                <a:solidFill>
                  <a:schemeClr val="accent3">
                    <a:lumMod val="75000"/>
                  </a:schemeClr>
                </a:solidFill>
              </a:rPr>
              <a:t> </a:t>
            </a:r>
            <a:r>
              <a:rPr lang="en-US" b="1" u="sng" dirty="0">
                <a:solidFill>
                  <a:schemeClr val="accent3">
                    <a:lumMod val="75000"/>
                  </a:schemeClr>
                </a:solidFill>
              </a:rPr>
              <a:t>Coaxial Cable</a:t>
            </a:r>
            <a:endParaRPr lang="en-US" sz="2400" dirty="0">
              <a:solidFill>
                <a:schemeClr val="accent3">
                  <a:lumMod val="75000"/>
                </a:schemeClr>
              </a:solidFill>
            </a:endParaRPr>
          </a:p>
          <a:p>
            <a:r>
              <a:rPr lang="en-US" sz="2800" cap="none" dirty="0" smtClean="0"/>
              <a:t> Coaxial cable (or coax) carries signals of higher frequency ranges than those in twisted pair cable. Coax has a central core conductor of solid or stranded wire (usually copper) enclosed in an insulating sheath, which is, in turn, encased in an outer conductor of metal foil, braid, or a combination of the two. The outer metallic wrapping serves both as a shield against noise and as the second conductor, which completes the circuit. This outer conductor is also enclosed in an insulating sheath, and the whole cable is protected by a plastic cover</a:t>
            </a:r>
          </a:p>
          <a:p>
            <a:endParaRPr lang="en-US" dirty="0"/>
          </a:p>
        </p:txBody>
      </p:sp>
    </p:spTree>
    <p:extLst>
      <p:ext uri="{BB962C8B-B14F-4D97-AF65-F5344CB8AC3E}">
        <p14:creationId xmlns:p14="http://schemas.microsoft.com/office/powerpoint/2010/main" val="1157780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cap="none" dirty="0" smtClean="0"/>
              <a:t>The most common type of connector used today is the </a:t>
            </a:r>
            <a:r>
              <a:rPr lang="en-US" b="1" cap="none" dirty="0" smtClean="0"/>
              <a:t>Bayone-Neill-Concelman (BNE), </a:t>
            </a:r>
            <a:r>
              <a:rPr lang="en-US" cap="none" dirty="0" smtClean="0"/>
              <a:t>connector. </a:t>
            </a:r>
            <a:br>
              <a:rPr lang="en-US" cap="none" dirty="0" smtClean="0"/>
            </a:br>
            <a:endParaRPr lang="en-US"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133600" y="2214694"/>
            <a:ext cx="8340435" cy="3465670"/>
          </a:xfrm>
          <a:prstGeom prst="rect">
            <a:avLst/>
          </a:prstGeom>
        </p:spPr>
      </p:pic>
    </p:spTree>
    <p:extLst>
      <p:ext uri="{BB962C8B-B14F-4D97-AF65-F5344CB8AC3E}">
        <p14:creationId xmlns:p14="http://schemas.microsoft.com/office/powerpoint/2010/main" val="3491989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193965"/>
            <a:ext cx="10364451" cy="2020730"/>
          </a:xfrm>
        </p:spPr>
        <p:txBody>
          <a:bodyPr>
            <a:noAutofit/>
          </a:bodyPr>
          <a:lstStyle/>
          <a:p>
            <a:pPr algn="l"/>
            <a:r>
              <a:rPr lang="en-US" sz="2400" b="1" cap="none" dirty="0" smtClean="0"/>
              <a:t>APPLICATIONS </a:t>
            </a:r>
            <a:r>
              <a:rPr lang="en-US" sz="2400" cap="none" dirty="0" smtClean="0"/>
              <a:t/>
            </a:r>
            <a:br>
              <a:rPr lang="en-US" sz="2400" cap="none" dirty="0" smtClean="0"/>
            </a:br>
            <a:r>
              <a:rPr lang="en-US" sz="2400" cap="none" dirty="0" smtClean="0"/>
              <a:t>coaxial cable was widely used in analog telephone networks, digital telephone networks </a:t>
            </a:r>
            <a:br>
              <a:rPr lang="en-US" sz="2400" cap="none" dirty="0" smtClean="0"/>
            </a:br>
            <a:r>
              <a:rPr lang="en-US" sz="2400" cap="none" dirty="0" smtClean="0"/>
              <a:t>cable TV networks also use coaxial cables. </a:t>
            </a:r>
            <a:br>
              <a:rPr lang="en-US" sz="2400" cap="none" dirty="0" smtClean="0"/>
            </a:br>
            <a:r>
              <a:rPr lang="en-US" sz="2400" cap="none" dirty="0" smtClean="0"/>
              <a:t>Another common application of coaxial cable is in traditional Ethernet </a:t>
            </a:r>
            <a:r>
              <a:rPr lang="en-US" sz="2400" cap="none" dirty="0" err="1" smtClean="0"/>
              <a:t>lans</a:t>
            </a:r>
            <a:r>
              <a:rPr lang="en-US" sz="2400" cap="none" dirty="0" smtClean="0"/>
              <a:t/>
            </a:r>
            <a:br>
              <a:rPr lang="en-US" sz="2400" cap="none" dirty="0" smtClean="0"/>
            </a:br>
            <a:endParaRPr lang="en-US" sz="2400" cap="none" dirty="0"/>
          </a:p>
        </p:txBody>
      </p:sp>
      <p:sp>
        <p:nvSpPr>
          <p:cNvPr id="3" name="Content Placeholder 2"/>
          <p:cNvSpPr>
            <a:spLocks noGrp="1"/>
          </p:cNvSpPr>
          <p:nvPr>
            <p:ph sz="quarter" idx="13"/>
          </p:nvPr>
        </p:nvSpPr>
        <p:spPr/>
        <p:txBody>
          <a:bodyPr/>
          <a:lstStyle/>
          <a:p>
            <a:pPr marL="0" indent="0">
              <a:buNone/>
            </a:pPr>
            <a:r>
              <a:rPr lang="en-US" b="1" dirty="0">
                <a:solidFill>
                  <a:schemeClr val="accent3">
                    <a:lumMod val="75000"/>
                  </a:schemeClr>
                </a:solidFill>
              </a:rPr>
              <a:t>Fiber-Optic</a:t>
            </a:r>
            <a:endParaRPr lang="en-US" dirty="0">
              <a:solidFill>
                <a:schemeClr val="accent3">
                  <a:lumMod val="75000"/>
                </a:schemeClr>
              </a:solidFill>
            </a:endParaRPr>
          </a:p>
          <a:p>
            <a:pPr marL="0" indent="0">
              <a:buNone/>
            </a:pPr>
            <a:r>
              <a:rPr lang="en-US" sz="2400" cap="none" dirty="0" smtClean="0"/>
              <a:t> cable a fiber-optic cable is made of glass or plastic and transmits signals in the form of light. light travels in a straight line as long as it is moving through a single uniform substance.</a:t>
            </a:r>
          </a:p>
          <a:p>
            <a:pPr marL="0" indent="0">
              <a:buNone/>
            </a:pPr>
            <a:r>
              <a:rPr lang="en-US" sz="2400" cap="none" dirty="0" smtClean="0"/>
              <a:t> if a ray of light traveling through one substance suddenly enters another substance (of a different density), the ray changes direction. bending of light ray</a:t>
            </a:r>
          </a:p>
          <a:p>
            <a:endParaRPr lang="en-US" dirty="0"/>
          </a:p>
        </p:txBody>
      </p:sp>
    </p:spTree>
    <p:extLst>
      <p:ext uri="{BB962C8B-B14F-4D97-AF65-F5344CB8AC3E}">
        <p14:creationId xmlns:p14="http://schemas.microsoft.com/office/powerpoint/2010/main" val="40262178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3" y="374073"/>
            <a:ext cx="10364451" cy="2299853"/>
          </a:xfrm>
        </p:spPr>
        <p:txBody>
          <a:bodyPr>
            <a:noAutofit/>
          </a:bodyPr>
          <a:lstStyle/>
          <a:p>
            <a:pPr algn="l"/>
            <a:r>
              <a:rPr lang="en-US" sz="4000" cap="none" dirty="0" smtClean="0"/>
              <a:t>Optical fibers use reflection to guide light through a channel. A glass or plastic core is surrounded by a cladding of less dense glass or plastic.</a:t>
            </a:r>
            <a:br>
              <a:rPr lang="en-US" sz="4000" cap="none" dirty="0" smtClean="0"/>
            </a:br>
            <a:endParaRPr lang="en-US" sz="4000"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1607127" y="2840181"/>
            <a:ext cx="8659091" cy="3034145"/>
          </a:xfrm>
          <a:prstGeom prst="rect">
            <a:avLst/>
          </a:prstGeom>
        </p:spPr>
      </p:pic>
    </p:spTree>
    <p:extLst>
      <p:ext uri="{BB962C8B-B14F-4D97-AF65-F5344CB8AC3E}">
        <p14:creationId xmlns:p14="http://schemas.microsoft.com/office/powerpoint/2010/main" val="32744075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Optical fiber cable</a:t>
            </a:r>
            <a:endParaRPr lang="en-US"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2036618" y="2341418"/>
            <a:ext cx="9241608" cy="3186546"/>
          </a:xfrm>
          <a:prstGeom prst="rect">
            <a:avLst/>
          </a:prstGeom>
        </p:spPr>
      </p:pic>
    </p:spTree>
    <p:extLst>
      <p:ext uri="{BB962C8B-B14F-4D97-AF65-F5344CB8AC3E}">
        <p14:creationId xmlns:p14="http://schemas.microsoft.com/office/powerpoint/2010/main" val="3985876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UNGUIDED MEDIA/ WIRELESS</a:t>
            </a:r>
            <a:r>
              <a:rPr lang="en-US" dirty="0"/>
              <a:t/>
            </a:r>
            <a:br>
              <a:rPr lang="en-US" dirty="0"/>
            </a:br>
            <a:endParaRPr lang="en-US" dirty="0"/>
          </a:p>
        </p:txBody>
      </p:sp>
      <p:sp>
        <p:nvSpPr>
          <p:cNvPr id="3" name="Content Placeholder 2"/>
          <p:cNvSpPr>
            <a:spLocks noGrp="1"/>
          </p:cNvSpPr>
          <p:nvPr>
            <p:ph sz="quarter" idx="13"/>
          </p:nvPr>
        </p:nvSpPr>
        <p:spPr/>
        <p:txBody>
          <a:bodyPr>
            <a:normAutofit/>
          </a:bodyPr>
          <a:lstStyle/>
          <a:p>
            <a:pPr marL="0" indent="0">
              <a:buNone/>
            </a:pPr>
            <a:r>
              <a:rPr lang="en-US" sz="2800" cap="none" dirty="0" smtClean="0"/>
              <a:t>Unguided media transport electromagnetic waves without using a physical conductor. This type of communication is often referred to as wireless communication. </a:t>
            </a:r>
          </a:p>
          <a:p>
            <a:pPr lvl="1">
              <a:buFont typeface="Wingdings" panose="05000000000000000000" pitchFamily="2" charset="2"/>
              <a:buChar char="Ø"/>
            </a:pPr>
            <a:r>
              <a:rPr lang="en-US" sz="2600" cap="none" dirty="0" smtClean="0"/>
              <a:t>Radio waves </a:t>
            </a:r>
          </a:p>
          <a:p>
            <a:pPr lvl="1">
              <a:buFont typeface="Wingdings" panose="05000000000000000000" pitchFamily="2" charset="2"/>
              <a:buChar char="Ø"/>
            </a:pPr>
            <a:r>
              <a:rPr lang="en-US" sz="2600" cap="none" dirty="0" smtClean="0"/>
              <a:t>Microwaves</a:t>
            </a:r>
          </a:p>
          <a:p>
            <a:pPr lvl="1">
              <a:buFont typeface="Wingdings" panose="05000000000000000000" pitchFamily="2" charset="2"/>
              <a:buChar char="Ø"/>
            </a:pPr>
            <a:r>
              <a:rPr lang="en-US" sz="2600" cap="none" dirty="0" smtClean="0"/>
              <a:t>Infrared</a:t>
            </a:r>
            <a:endParaRPr lang="en-US" sz="2600" cap="none" dirty="0" smtClean="0"/>
          </a:p>
          <a:p>
            <a:endParaRPr lang="en-US" dirty="0"/>
          </a:p>
        </p:txBody>
      </p:sp>
    </p:spTree>
    <p:extLst>
      <p:ext uri="{BB962C8B-B14F-4D97-AF65-F5344CB8AC3E}">
        <p14:creationId xmlns:p14="http://schemas.microsoft.com/office/powerpoint/2010/main" val="2601175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2526465"/>
          </a:xfrm>
        </p:spPr>
        <p:txBody>
          <a:bodyPr>
            <a:noAutofit/>
          </a:bodyPr>
          <a:lstStyle/>
          <a:p>
            <a:pPr algn="l"/>
            <a:r>
              <a:rPr lang="en-US" cap="none" dirty="0" smtClean="0"/>
              <a:t>Unguided signals can travel from the source to destination in several ways: ground propagation, sky propagation, and line-of-sight propagation, as shown in figure radio wave</a:t>
            </a:r>
            <a:br>
              <a:rPr lang="en-US" cap="none" dirty="0" smtClean="0"/>
            </a:br>
            <a:endParaRPr lang="en-US" cap="none"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720435" y="2715492"/>
            <a:ext cx="4405747" cy="2743200"/>
          </a:xfrm>
          <a:prstGeom prst="rect">
            <a:avLst/>
          </a:prstGeom>
        </p:spPr>
      </p:pic>
      <p:pic>
        <p:nvPicPr>
          <p:cNvPr id="5" name="Content Placeholder 3"/>
          <p:cNvPicPr>
            <a:picLocks/>
          </p:cNvPicPr>
          <p:nvPr/>
        </p:nvPicPr>
        <p:blipFill>
          <a:blip r:embed="rId3">
            <a:extLst>
              <a:ext uri="{28A0092B-C50C-407E-A947-70E740481C1C}">
                <a14:useLocalDpi xmlns:a14="http://schemas.microsoft.com/office/drawing/2010/main" val="0"/>
              </a:ext>
            </a:extLst>
          </a:blip>
          <a:stretch>
            <a:fillRect/>
          </a:stretch>
        </p:blipFill>
        <p:spPr>
          <a:xfrm>
            <a:off x="5187541" y="2763117"/>
            <a:ext cx="6029325" cy="2695575"/>
          </a:xfrm>
          <a:prstGeom prst="rect">
            <a:avLst/>
          </a:prstGeom>
        </p:spPr>
      </p:pic>
    </p:spTree>
    <p:extLst>
      <p:ext uri="{BB962C8B-B14F-4D97-AF65-F5344CB8AC3E}">
        <p14:creationId xmlns:p14="http://schemas.microsoft.com/office/powerpoint/2010/main" val="13042497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1122218"/>
            <a:ext cx="10363826" cy="4668981"/>
          </a:xfrm>
        </p:spPr>
        <p:txBody>
          <a:bodyPr>
            <a:normAutofit/>
          </a:bodyPr>
          <a:lstStyle/>
          <a:p>
            <a:pPr marL="0" indent="0">
              <a:buNone/>
            </a:pPr>
            <a:r>
              <a:rPr lang="en-US" sz="2400" b="1" dirty="0">
                <a:solidFill>
                  <a:schemeClr val="accent3">
                    <a:lumMod val="75000"/>
                  </a:schemeClr>
                </a:solidFill>
              </a:rPr>
              <a:t>Radio Waves </a:t>
            </a:r>
            <a:endParaRPr lang="en-US" sz="2400" dirty="0">
              <a:solidFill>
                <a:schemeClr val="accent3">
                  <a:lumMod val="75000"/>
                </a:schemeClr>
              </a:solidFill>
            </a:endParaRPr>
          </a:p>
          <a:p>
            <a:pPr marL="457200" lvl="1" indent="0">
              <a:buNone/>
            </a:pPr>
            <a:r>
              <a:rPr lang="en-US" sz="2200" cap="none" dirty="0" smtClean="0"/>
              <a:t>Electromagnetic waves ranging in frequencies between 3 </a:t>
            </a:r>
            <a:r>
              <a:rPr lang="en-US" sz="2200" cap="none" dirty="0" smtClean="0"/>
              <a:t>KHZ </a:t>
            </a:r>
            <a:r>
              <a:rPr lang="en-US" sz="2200" cap="none" dirty="0" smtClean="0"/>
              <a:t>and 1 </a:t>
            </a:r>
            <a:r>
              <a:rPr lang="en-US" sz="2200" cap="none" dirty="0" smtClean="0"/>
              <a:t>GHZ </a:t>
            </a:r>
            <a:r>
              <a:rPr lang="en-US" sz="2200" cap="none" dirty="0" smtClean="0"/>
              <a:t>are normally called radio waves. Radio waves are </a:t>
            </a:r>
            <a:r>
              <a:rPr lang="en-US" sz="2200" cap="none" dirty="0" err="1" smtClean="0"/>
              <a:t>omni</a:t>
            </a:r>
            <a:r>
              <a:rPr lang="en-US" sz="2200" cap="none" dirty="0" smtClean="0"/>
              <a:t> directional. When an antenna transmits radio waves, they are propagated in all directions. This means that the sending and receiving antennas do not have to be aligned. A sending antenna sends waves that can be received by any receiving antenna. The </a:t>
            </a:r>
            <a:r>
              <a:rPr lang="en-US" sz="2200" cap="none" dirty="0" err="1" smtClean="0"/>
              <a:t>omni</a:t>
            </a:r>
            <a:r>
              <a:rPr lang="en-US" sz="2200" cap="none" dirty="0" smtClean="0"/>
              <a:t> directional property has a disadvantage, too. The radio waves transmitted by one antenna are susceptible to interference by another antenna that may send signals using the same frequency or band.</a:t>
            </a:r>
          </a:p>
          <a:p>
            <a:pPr marL="0" indent="0">
              <a:buNone/>
            </a:pPr>
            <a:endParaRPr lang="en-US" cap="none" dirty="0"/>
          </a:p>
        </p:txBody>
      </p:sp>
    </p:spTree>
    <p:extLst>
      <p:ext uri="{BB962C8B-B14F-4D97-AF65-F5344CB8AC3E}">
        <p14:creationId xmlns:p14="http://schemas.microsoft.com/office/powerpoint/2010/main" val="3186963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lnSpcReduction="10000"/>
          </a:bodyPr>
          <a:lstStyle/>
          <a:p>
            <a:pPr marL="0" indent="0">
              <a:buNone/>
            </a:pPr>
            <a:r>
              <a:rPr lang="en-US" dirty="0"/>
              <a:t> </a:t>
            </a:r>
            <a:r>
              <a:rPr lang="en-US" b="1" dirty="0"/>
              <a:t>Omni directional Antenna </a:t>
            </a:r>
            <a:endParaRPr lang="en-US" dirty="0"/>
          </a:p>
          <a:p>
            <a:pPr marL="0" indent="0">
              <a:buNone/>
            </a:pPr>
            <a:r>
              <a:rPr lang="en-US" sz="3200" cap="none" dirty="0" smtClean="0"/>
              <a:t>Radio waves use omnidirectional antennas that send out signals in all directions. Based on the wavelength, strength, and the purpose of transmission, we can have several types of antennas.</a:t>
            </a:r>
          </a:p>
          <a:p>
            <a:pPr marL="0" indent="0">
              <a:buNone/>
            </a:pPr>
            <a:r>
              <a:rPr lang="en-US" sz="3200" cap="none" dirty="0" smtClean="0"/>
              <a:t>Figure shows an omnidirectional antenna.  </a:t>
            </a:r>
          </a:p>
          <a:p>
            <a:pPr marL="0" indent="0">
              <a:buNone/>
            </a:pPr>
            <a:endParaRPr lang="en-US" dirty="0"/>
          </a:p>
        </p:txBody>
      </p:sp>
      <p:pic>
        <p:nvPicPr>
          <p:cNvPr id="4" name="Content Placeholder 3"/>
          <p:cNvPicPr>
            <a:picLocks/>
          </p:cNvPicPr>
          <p:nvPr/>
        </p:nvPicPr>
        <p:blipFill>
          <a:blip r:embed="rId2">
            <a:extLst>
              <a:ext uri="{28A0092B-C50C-407E-A947-70E740481C1C}">
                <a14:useLocalDpi xmlns:a14="http://schemas.microsoft.com/office/drawing/2010/main" val="0"/>
              </a:ext>
            </a:extLst>
          </a:blip>
          <a:stretch>
            <a:fillRect/>
          </a:stretch>
        </p:blipFill>
        <p:spPr>
          <a:xfrm>
            <a:off x="4576449" y="220590"/>
            <a:ext cx="3038475" cy="2146502"/>
          </a:xfrm>
          <a:prstGeom prst="rect">
            <a:avLst/>
          </a:prstGeom>
        </p:spPr>
      </p:pic>
    </p:spTree>
    <p:extLst>
      <p:ext uri="{BB962C8B-B14F-4D97-AF65-F5344CB8AC3E}">
        <p14:creationId xmlns:p14="http://schemas.microsoft.com/office/powerpoint/2010/main" val="2189951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3066792"/>
          </a:xfrm>
        </p:spPr>
        <p:txBody>
          <a:bodyPr>
            <a:noAutofit/>
          </a:bodyPr>
          <a:lstStyle/>
          <a:p>
            <a:pPr algn="l"/>
            <a:r>
              <a:rPr lang="en-US" sz="2400" b="1" dirty="0">
                <a:solidFill>
                  <a:schemeClr val="accent3">
                    <a:lumMod val="75000"/>
                  </a:schemeClr>
                </a:solidFill>
              </a:rPr>
              <a:t>Microwaves </a:t>
            </a:r>
            <a:r>
              <a:rPr lang="en-US" sz="2400" dirty="0"/>
              <a:t/>
            </a:r>
            <a:br>
              <a:rPr lang="en-US" sz="2400" dirty="0"/>
            </a:br>
            <a:r>
              <a:rPr lang="en-US" sz="2400" cap="none" dirty="0" smtClean="0"/>
              <a:t>Electromagnetic waves having frequencies between 1 and 300 </a:t>
            </a:r>
            <a:r>
              <a:rPr lang="en-US" sz="2400" cap="none" dirty="0" err="1" smtClean="0"/>
              <a:t>ghz</a:t>
            </a:r>
            <a:r>
              <a:rPr lang="en-US" sz="2400" cap="none" dirty="0" smtClean="0"/>
              <a:t> are called microwaves. Microwaves are unidirectional. The sending and receiving antennas need to be aligned. The unidirectional property has an obvious advantage. A pair of antennas can be aligned without interfering with another pair of aligned antennas</a:t>
            </a:r>
            <a:br>
              <a:rPr lang="en-US" sz="2400" cap="none" dirty="0" smtClean="0"/>
            </a:br>
            <a:endParaRPr lang="en-US" sz="2400" cap="none" dirty="0"/>
          </a:p>
        </p:txBody>
      </p:sp>
      <p:sp>
        <p:nvSpPr>
          <p:cNvPr id="3" name="Content Placeholder 2"/>
          <p:cNvSpPr>
            <a:spLocks noGrp="1"/>
          </p:cNvSpPr>
          <p:nvPr>
            <p:ph sz="quarter" idx="13"/>
          </p:nvPr>
        </p:nvSpPr>
        <p:spPr>
          <a:xfrm>
            <a:off x="913774" y="3685309"/>
            <a:ext cx="10363826" cy="2105890"/>
          </a:xfrm>
        </p:spPr>
        <p:txBody>
          <a:bodyPr>
            <a:normAutofit/>
          </a:bodyPr>
          <a:lstStyle/>
          <a:p>
            <a:pPr marL="0" indent="0">
              <a:buNone/>
            </a:pPr>
            <a:r>
              <a:rPr lang="en-US" sz="2400" b="1" dirty="0"/>
              <a:t>Unidirectional Antenna</a:t>
            </a:r>
            <a:endParaRPr lang="en-US" sz="2400" dirty="0"/>
          </a:p>
          <a:p>
            <a:pPr marL="0" indent="0">
              <a:buNone/>
            </a:pPr>
            <a:r>
              <a:rPr lang="en-US" sz="2400" cap="none" dirty="0" smtClean="0"/>
              <a:t>Microwaves need unidirectional antennas that send out signals in one direction. Two types of antennas are used for microwave communications: the parabolic dish and the horn</a:t>
            </a:r>
          </a:p>
          <a:p>
            <a:endParaRPr lang="en-US" sz="2400" cap="none" dirty="0"/>
          </a:p>
        </p:txBody>
      </p:sp>
    </p:spTree>
    <p:extLst>
      <p:ext uri="{BB962C8B-B14F-4D97-AF65-F5344CB8AC3E}">
        <p14:creationId xmlns:p14="http://schemas.microsoft.com/office/powerpoint/2010/main" val="34359703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marL="0" indent="0">
              <a:buNone/>
            </a:pPr>
            <a:r>
              <a:rPr lang="en-US" b="1" dirty="0"/>
              <a:t>Infrared</a:t>
            </a:r>
            <a:endParaRPr lang="en-US" dirty="0"/>
          </a:p>
          <a:p>
            <a:pPr marL="0" indent="0">
              <a:buNone/>
            </a:pPr>
            <a:r>
              <a:rPr lang="en-US" sz="2400" cap="none" dirty="0" smtClean="0"/>
              <a:t> Infrared waves, with frequencies from 300 </a:t>
            </a:r>
            <a:r>
              <a:rPr lang="en-US" sz="2400" cap="none" dirty="0" smtClean="0"/>
              <a:t>GHZ </a:t>
            </a:r>
            <a:r>
              <a:rPr lang="en-US" sz="2400" cap="none" dirty="0" smtClean="0"/>
              <a:t>to 400 </a:t>
            </a:r>
            <a:r>
              <a:rPr lang="en-US" sz="2400" cap="none" dirty="0" smtClean="0"/>
              <a:t>THZ </a:t>
            </a:r>
            <a:r>
              <a:rPr lang="en-US" sz="2400" cap="none" dirty="0" smtClean="0"/>
              <a:t>(wavelengths from 1 mm to 770 nm), can be used for short-range communication. Infrared waves, having high frequencies, cannot penetrate walls. This advantageous characteristic prevents interference between one system and another; a short range communication system in one room cannot be affected by another system in the next room. </a:t>
            </a:r>
          </a:p>
          <a:p>
            <a:endParaRPr lang="en-US" dirty="0"/>
          </a:p>
        </p:txBody>
      </p:sp>
      <p:pic>
        <p:nvPicPr>
          <p:cNvPr id="4" name="Content Placeholder 3"/>
          <p:cNvPicPr>
            <a:picLocks noGrp="1"/>
          </p:cNvPicPr>
          <p:nvPr>
            <p:ph sz="quarter" idx="13"/>
          </p:nvPr>
        </p:nvPicPr>
        <p:blipFill>
          <a:blip r:embed="rId2">
            <a:extLst>
              <a:ext uri="{28A0092B-C50C-407E-A947-70E740481C1C}">
                <a14:useLocalDpi xmlns:a14="http://schemas.microsoft.com/office/drawing/2010/main" val="0"/>
              </a:ext>
            </a:extLst>
          </a:blip>
          <a:stretch>
            <a:fillRect/>
          </a:stretch>
        </p:blipFill>
        <p:spPr>
          <a:xfrm>
            <a:off x="3100821" y="538292"/>
            <a:ext cx="5353050" cy="1828800"/>
          </a:xfrm>
          <a:prstGeom prst="rect">
            <a:avLst/>
          </a:prstGeom>
        </p:spPr>
      </p:pic>
    </p:spTree>
    <p:extLst>
      <p:ext uri="{BB962C8B-B14F-4D97-AF65-F5344CB8AC3E}">
        <p14:creationId xmlns:p14="http://schemas.microsoft.com/office/powerpoint/2010/main" val="2325120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748146"/>
            <a:ext cx="10363826" cy="5043054"/>
          </a:xfrm>
        </p:spPr>
        <p:txBody>
          <a:bodyPr>
            <a:noAutofit/>
          </a:bodyPr>
          <a:lstStyle/>
          <a:p>
            <a:pPr marL="0" indent="0">
              <a:buNone/>
            </a:pPr>
            <a:r>
              <a:rPr lang="en-US" sz="2800" cap="none" dirty="0" smtClean="0"/>
              <a:t>When we use our infrared remote control, we do not interfere with the use of the remote by our neighbors. Infrared signals useless for long-range communication. In addition, we cannot use infrared waves outside a building because the sun's rays contain infrared waves that can interfere with the communication.</a:t>
            </a:r>
          </a:p>
          <a:p>
            <a:pPr marL="0" indent="0">
              <a:buNone/>
            </a:pPr>
            <a:r>
              <a:rPr lang="en-US" sz="2800" b="1" cap="none" dirty="0" smtClean="0"/>
              <a:t>Applications:</a:t>
            </a:r>
            <a:endParaRPr lang="en-US" sz="2800" cap="none" dirty="0" smtClean="0"/>
          </a:p>
          <a:p>
            <a:pPr marL="0" indent="0">
              <a:buNone/>
            </a:pPr>
            <a:r>
              <a:rPr lang="en-US" sz="2800" cap="none" dirty="0" smtClean="0"/>
              <a:t> Infrared signals can be used for short-range communication in a closed area using line-of-sight propagation.</a:t>
            </a:r>
          </a:p>
          <a:p>
            <a:pPr marL="0" indent="0">
              <a:buNone/>
            </a:pPr>
            <a:endParaRPr lang="en-US" sz="2400" dirty="0"/>
          </a:p>
        </p:txBody>
      </p:sp>
    </p:spTree>
    <p:extLst>
      <p:ext uri="{BB962C8B-B14F-4D97-AF65-F5344CB8AC3E}">
        <p14:creationId xmlns:p14="http://schemas.microsoft.com/office/powerpoint/2010/main" val="20869993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3"/>
            <p:extLst>
              <p:ext uri="{D42A27DB-BD31-4B8C-83A1-F6EECF244321}">
                <p14:modId xmlns:p14="http://schemas.microsoft.com/office/powerpoint/2010/main" val="3643445712"/>
              </p:ext>
            </p:extLst>
          </p:nvPr>
        </p:nvGraphicFramePr>
        <p:xfrm>
          <a:off x="2272145" y="1371601"/>
          <a:ext cx="6792480" cy="4364181"/>
        </p:xfrm>
        <a:graphic>
          <a:graphicData uri="http://schemas.openxmlformats.org/drawingml/2006/table">
            <a:tbl>
              <a:tblPr firstRow="1" firstCol="1" bandRow="1">
                <a:tableStyleId>{5C22544A-7EE6-4342-B048-85BDC9FD1C3A}</a:tableStyleId>
              </a:tblPr>
              <a:tblGrid>
                <a:gridCol w="2263676"/>
                <a:gridCol w="2264402"/>
                <a:gridCol w="2264402"/>
              </a:tblGrid>
              <a:tr h="1163685">
                <a:tc>
                  <a:txBody>
                    <a:bodyPr/>
                    <a:lstStyle/>
                    <a:p>
                      <a:pPr marL="457200">
                        <a:lnSpc>
                          <a:spcPct val="107000"/>
                        </a:lnSpc>
                        <a:spcAft>
                          <a:spcPts val="0"/>
                        </a:spcAft>
                      </a:pPr>
                      <a:r>
                        <a:rPr lang="en-US" sz="1800" b="1" dirty="0">
                          <a:effectLst/>
                        </a:rPr>
                        <a:t>Medium</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b="1" dirty="0">
                          <a:effectLst/>
                        </a:rPr>
                        <a:t>signal</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b="1" dirty="0">
                          <a:effectLst/>
                        </a:rPr>
                        <a:t>bandwidth</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Twisted pair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Electrical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a:effectLst/>
                        </a:rPr>
                        <a:t>moderate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Coaxial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Electrical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a:effectLst/>
                        </a:rPr>
                        <a:t>Very high than twisted</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Fiber optic</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light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Very high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00124">
                <a:tc>
                  <a:txBody>
                    <a:bodyPr/>
                    <a:lstStyle/>
                    <a:p>
                      <a:pPr marL="457200">
                        <a:lnSpc>
                          <a:spcPct val="107000"/>
                        </a:lnSpc>
                        <a:spcAft>
                          <a:spcPts val="0"/>
                        </a:spcAft>
                      </a:pPr>
                      <a:r>
                        <a:rPr lang="en-US" sz="1800">
                          <a:effectLst/>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0"/>
                        </a:spcAft>
                      </a:pPr>
                      <a:r>
                        <a:rPr lang="en-US" sz="1800" dirty="0">
                          <a:effectLst/>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707117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QN.3 DISCUSS THE CRETARIA FOR SELECTING NETWORK TRANSMISION MEDIA.</a:t>
            </a:r>
            <a:endParaRPr lang="en-US" dirty="0"/>
          </a:p>
        </p:txBody>
      </p:sp>
      <p:sp>
        <p:nvSpPr>
          <p:cNvPr id="3" name="Content Placeholder 2"/>
          <p:cNvSpPr>
            <a:spLocks noGrp="1"/>
          </p:cNvSpPr>
          <p:nvPr>
            <p:ph sz="quarter" idx="13"/>
          </p:nvPr>
        </p:nvSpPr>
        <p:spPr>
          <a:xfrm>
            <a:off x="913774" y="2367092"/>
            <a:ext cx="10363826" cy="4075272"/>
          </a:xfrm>
        </p:spPr>
        <p:txBody>
          <a:bodyPr>
            <a:noAutofit/>
          </a:bodyPr>
          <a:lstStyle/>
          <a:p>
            <a:pPr marL="0" indent="0">
              <a:buNone/>
            </a:pPr>
            <a:r>
              <a:rPr lang="en-US" b="1" dirty="0" smtClean="0"/>
              <a:t>Band width/data rate</a:t>
            </a:r>
          </a:p>
          <a:p>
            <a:pPr marL="0" indent="0">
              <a:buNone/>
            </a:pPr>
            <a:r>
              <a:rPr lang="en-US" sz="1800" cap="none" dirty="0" smtClean="0"/>
              <a:t>How much data can it carry? For high speed needs like video streaming use fiber optic (up to </a:t>
            </a:r>
            <a:r>
              <a:rPr lang="en-US" sz="1800" cap="none" dirty="0" err="1" smtClean="0"/>
              <a:t>tbps</a:t>
            </a:r>
            <a:r>
              <a:rPr lang="en-US" sz="1800" cap="none" dirty="0" smtClean="0"/>
              <a:t>). For low speed office work ,twisted pair is enough (100mps-1gbps)</a:t>
            </a:r>
          </a:p>
          <a:p>
            <a:pPr marL="0" indent="0">
              <a:buNone/>
            </a:pPr>
            <a:r>
              <a:rPr lang="en-US" sz="1800" b="1" cap="none" dirty="0" smtClean="0"/>
              <a:t>DISTANCE/ATTENUATION</a:t>
            </a:r>
          </a:p>
          <a:p>
            <a:pPr marL="0" indent="0">
              <a:buNone/>
            </a:pPr>
            <a:r>
              <a:rPr lang="en-US" sz="1800" cap="none" dirty="0" smtClean="0"/>
              <a:t>How far  can signal go without becoming weak?</a:t>
            </a:r>
          </a:p>
          <a:p>
            <a:pPr marL="0" indent="0">
              <a:buNone/>
            </a:pPr>
            <a:r>
              <a:rPr lang="en-US" sz="1800" cap="none" dirty="0" smtClean="0"/>
              <a:t>Twisted pair -100m</a:t>
            </a:r>
          </a:p>
          <a:p>
            <a:pPr marL="0" indent="0">
              <a:buNone/>
            </a:pPr>
            <a:r>
              <a:rPr lang="en-US" sz="1800" cap="none" dirty="0" smtClean="0"/>
              <a:t>Coaxial- -500m</a:t>
            </a:r>
          </a:p>
          <a:p>
            <a:pPr marL="0" indent="0">
              <a:buNone/>
            </a:pPr>
            <a:r>
              <a:rPr lang="en-US" sz="1800" cap="none" dirty="0" smtClean="0"/>
              <a:t>Fiber optic -100km+</a:t>
            </a:r>
          </a:p>
          <a:p>
            <a:pPr marL="0" indent="0">
              <a:buNone/>
            </a:pPr>
            <a:r>
              <a:rPr lang="en-US" sz="1800" cap="none" dirty="0" smtClean="0"/>
              <a:t>Wireless depends on power</a:t>
            </a:r>
            <a:endParaRPr lang="en-US" sz="1800" cap="none" dirty="0"/>
          </a:p>
        </p:txBody>
      </p:sp>
    </p:spTree>
    <p:extLst>
      <p:ext uri="{BB962C8B-B14F-4D97-AF65-F5344CB8AC3E}">
        <p14:creationId xmlns:p14="http://schemas.microsoft.com/office/powerpoint/2010/main" val="11792498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3"/>
          </p:nvPr>
        </p:nvSpPr>
        <p:spPr/>
        <p:txBody>
          <a:bodyPr>
            <a:normAutofit fontScale="92500" lnSpcReduction="10000"/>
          </a:bodyPr>
          <a:lstStyle/>
          <a:p>
            <a:r>
              <a:rPr lang="en-US" dirty="0" smtClean="0"/>
              <a:t>Cost</a:t>
            </a:r>
          </a:p>
          <a:p>
            <a:r>
              <a:rPr lang="en-US" dirty="0" smtClean="0"/>
              <a:t>Initial cost +maintenance cost</a:t>
            </a:r>
          </a:p>
          <a:p>
            <a:r>
              <a:rPr lang="en-US" dirty="0" smtClean="0"/>
              <a:t>Twisted pair is cheapest, fiber is most expensive to buy and </a:t>
            </a:r>
            <a:r>
              <a:rPr lang="en-US" dirty="0" err="1" smtClean="0"/>
              <a:t>install,wireless</a:t>
            </a:r>
            <a:r>
              <a:rPr lang="en-US" dirty="0" smtClean="0"/>
              <a:t> has no cabling cost but needs access points.</a:t>
            </a:r>
          </a:p>
          <a:p>
            <a:r>
              <a:rPr lang="en-US" dirty="0" smtClean="0"/>
              <a:t>Electromagnetic interference(</a:t>
            </a:r>
            <a:r>
              <a:rPr lang="en-US" dirty="0" err="1" smtClean="0"/>
              <a:t>emi</a:t>
            </a:r>
            <a:r>
              <a:rPr lang="en-US" dirty="0" smtClean="0"/>
              <a:t>) and Noise immunity</a:t>
            </a:r>
          </a:p>
          <a:p>
            <a:r>
              <a:rPr lang="en-US" dirty="0" smtClean="0"/>
              <a:t>Twisted pair and coax are affected by electrical noise from motors, power lines.</a:t>
            </a:r>
          </a:p>
          <a:p>
            <a:r>
              <a:rPr lang="en-US" dirty="0" smtClean="0"/>
              <a:t>Fiber optic is Not affected by Emi at all , </a:t>
            </a:r>
            <a:r>
              <a:rPr lang="en-US" dirty="0" err="1" smtClean="0"/>
              <a:t>brst</a:t>
            </a:r>
            <a:r>
              <a:rPr lang="en-US" dirty="0" smtClean="0"/>
              <a:t> for industrial areas.</a:t>
            </a:r>
          </a:p>
          <a:p>
            <a:r>
              <a:rPr lang="en-US" dirty="0" smtClean="0"/>
              <a:t>Wireless is affected by </a:t>
            </a:r>
            <a:r>
              <a:rPr lang="en-US" dirty="0" err="1" smtClean="0"/>
              <a:t>weathe</a:t>
            </a:r>
            <a:r>
              <a:rPr lang="en-US" dirty="0" smtClean="0"/>
              <a:t> , walls other signals.</a:t>
            </a:r>
            <a:endParaRPr lang="en-US" dirty="0"/>
          </a:p>
        </p:txBody>
      </p:sp>
    </p:spTree>
    <p:extLst>
      <p:ext uri="{BB962C8B-B14F-4D97-AF65-F5344CB8AC3E}">
        <p14:creationId xmlns:p14="http://schemas.microsoft.com/office/powerpoint/2010/main" val="11293741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1219200"/>
            <a:ext cx="10363826" cy="4571999"/>
          </a:xfrm>
        </p:spPr>
        <p:txBody>
          <a:bodyPr>
            <a:normAutofit/>
          </a:bodyPr>
          <a:lstStyle/>
          <a:p>
            <a:pPr marL="0" indent="0">
              <a:buNone/>
            </a:pPr>
            <a:r>
              <a:rPr lang="en-US" sz="3200" b="1" dirty="0" smtClean="0"/>
              <a:t>Security  </a:t>
            </a:r>
          </a:p>
          <a:p>
            <a:pPr marL="0" indent="0">
              <a:buNone/>
            </a:pPr>
            <a:r>
              <a:rPr lang="en-US" sz="3600" cap="none" dirty="0" smtClean="0"/>
              <a:t>How easy is it to tap?</a:t>
            </a:r>
          </a:p>
          <a:p>
            <a:pPr marL="0" indent="0">
              <a:buNone/>
            </a:pPr>
            <a:r>
              <a:rPr lang="en-US" sz="3600" cap="none" dirty="0" smtClean="0"/>
              <a:t>Wireless and twisted pair ; easy to tap</a:t>
            </a:r>
          </a:p>
          <a:p>
            <a:pPr marL="0" indent="0">
              <a:buNone/>
            </a:pPr>
            <a:r>
              <a:rPr lang="en-US" sz="3600" cap="none" dirty="0" smtClean="0"/>
              <a:t>Coaxial difficult</a:t>
            </a:r>
          </a:p>
          <a:p>
            <a:pPr marL="0" indent="0">
              <a:buNone/>
            </a:pPr>
            <a:r>
              <a:rPr lang="en-US" sz="3600" cap="none" dirty="0" smtClean="0"/>
              <a:t>Fiber optical very difficult, best for banks , military.</a:t>
            </a:r>
            <a:endParaRPr lang="en-US" sz="3600" cap="none" dirty="0"/>
          </a:p>
        </p:txBody>
      </p:sp>
    </p:spTree>
    <p:extLst>
      <p:ext uri="{BB962C8B-B14F-4D97-AF65-F5344CB8AC3E}">
        <p14:creationId xmlns:p14="http://schemas.microsoft.com/office/powerpoint/2010/main" val="28759440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1136074"/>
            <a:ext cx="10363826" cy="4655126"/>
          </a:xfrm>
        </p:spPr>
        <p:txBody>
          <a:bodyPr/>
          <a:lstStyle/>
          <a:p>
            <a:pPr marL="0" indent="0">
              <a:buNone/>
            </a:pPr>
            <a:r>
              <a:rPr lang="en-US" sz="2400" b="1" dirty="0" smtClean="0"/>
              <a:t>Ease of installation and maintenance</a:t>
            </a:r>
          </a:p>
          <a:p>
            <a:pPr marL="0" indent="0">
              <a:buNone/>
            </a:pPr>
            <a:r>
              <a:rPr lang="en-US" sz="2800" cap="none" dirty="0" smtClean="0"/>
              <a:t>Twisted pair very easy to install.</a:t>
            </a:r>
          </a:p>
          <a:p>
            <a:pPr marL="0" indent="0">
              <a:buNone/>
            </a:pPr>
            <a:r>
              <a:rPr lang="en-US" sz="2800" cap="none" dirty="0" smtClean="0"/>
              <a:t>Fiber needs skilled technicians, special tools for splicing.</a:t>
            </a:r>
          </a:p>
          <a:p>
            <a:pPr marL="0" indent="0">
              <a:buNone/>
            </a:pPr>
            <a:r>
              <a:rPr lang="en-US" sz="2800" cap="none" dirty="0" smtClean="0"/>
              <a:t>Wireless, easy but needs configuration.</a:t>
            </a:r>
          </a:p>
          <a:p>
            <a:pPr marL="0" indent="0">
              <a:buNone/>
            </a:pPr>
            <a:r>
              <a:rPr lang="en-US" sz="2800" cap="none" dirty="0" smtClean="0"/>
              <a:t>Physical environment </a:t>
            </a:r>
          </a:p>
          <a:p>
            <a:pPr marL="0" indent="0">
              <a:buNone/>
            </a:pPr>
            <a:r>
              <a:rPr lang="en-US" sz="2800" cap="none" dirty="0" smtClean="0"/>
              <a:t>Where will it be installed? Indoor, outdoor, underground, wireless for mobile users or buildings where you cannot run cables.</a:t>
            </a:r>
            <a:endParaRPr lang="en-US" sz="2800" cap="none" dirty="0"/>
          </a:p>
        </p:txBody>
      </p:sp>
    </p:spTree>
    <p:extLst>
      <p:ext uri="{BB962C8B-B14F-4D97-AF65-F5344CB8AC3E}">
        <p14:creationId xmlns:p14="http://schemas.microsoft.com/office/powerpoint/2010/main" val="7450478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13774" y="1343892"/>
            <a:ext cx="10363826" cy="4447308"/>
          </a:xfrm>
        </p:spPr>
        <p:txBody>
          <a:bodyPr>
            <a:normAutofit/>
          </a:bodyPr>
          <a:lstStyle/>
          <a:p>
            <a:pPr marL="0" indent="0">
              <a:buNone/>
            </a:pPr>
            <a:r>
              <a:rPr lang="en-US" sz="2400" b="1" dirty="0" smtClean="0"/>
              <a:t>Number of Devices / </a:t>
            </a:r>
            <a:r>
              <a:rPr lang="en-US" sz="2400" b="1" dirty="0" err="1" smtClean="0"/>
              <a:t>topoLOgY</a:t>
            </a:r>
            <a:endParaRPr lang="en-US" sz="2400" b="1" dirty="0" smtClean="0"/>
          </a:p>
          <a:p>
            <a:pPr marL="0" indent="0">
              <a:buNone/>
            </a:pPr>
            <a:r>
              <a:rPr lang="en-US" cap="none" dirty="0" smtClean="0"/>
              <a:t>If many devices in a devices in a building, structured cabling with twisted  pair is better.</a:t>
            </a:r>
          </a:p>
          <a:p>
            <a:pPr marL="0" indent="0">
              <a:buNone/>
            </a:pPr>
            <a:r>
              <a:rPr lang="en-US" b="1" cap="none" dirty="0" smtClean="0"/>
              <a:t>FUTURE SCALABILITY</a:t>
            </a:r>
          </a:p>
          <a:p>
            <a:pPr marL="0" indent="0">
              <a:buNone/>
            </a:pPr>
            <a:r>
              <a:rPr lang="en-US" cap="none" dirty="0" smtClean="0"/>
              <a:t>Will you need more speed in future? Fiber is future-proof.</a:t>
            </a:r>
          </a:p>
          <a:p>
            <a:pPr marL="0" indent="0">
              <a:buNone/>
            </a:pPr>
            <a:r>
              <a:rPr lang="en-US" b="1" cap="none" dirty="0" smtClean="0"/>
              <a:t>SAFETY</a:t>
            </a:r>
          </a:p>
          <a:p>
            <a:pPr marL="0" indent="0">
              <a:buNone/>
            </a:pPr>
            <a:r>
              <a:rPr lang="en-US" cap="none" dirty="0" smtClean="0"/>
              <a:t>In areas with high voltage or fire risk, use fiber because it does not carry electricity.</a:t>
            </a:r>
            <a:endParaRPr lang="en-US" cap="none" dirty="0"/>
          </a:p>
        </p:txBody>
      </p:sp>
    </p:spTree>
    <p:extLst>
      <p:ext uri="{BB962C8B-B14F-4D97-AF65-F5344CB8AC3E}">
        <p14:creationId xmlns:p14="http://schemas.microsoft.com/office/powerpoint/2010/main" val="21494989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6117"/>
            <a:ext cx="10364451" cy="1596177"/>
          </a:xfrm>
        </p:spPr>
        <p:txBody>
          <a:bodyPr>
            <a:noAutofit/>
          </a:bodyPr>
          <a:lstStyle/>
          <a:p>
            <a:r>
              <a:rPr lang="en-US" sz="3200" b="1" dirty="0" smtClean="0"/>
              <a:t>QN.4) What is a noise in the network transmission media, discuss the various types of nose in network transmission media.</a:t>
            </a:r>
            <a:endParaRPr lang="en-US" sz="3200" b="1" dirty="0"/>
          </a:p>
        </p:txBody>
      </p:sp>
      <p:sp>
        <p:nvSpPr>
          <p:cNvPr id="3" name="Content Placeholder 2"/>
          <p:cNvSpPr>
            <a:spLocks noGrp="1"/>
          </p:cNvSpPr>
          <p:nvPr>
            <p:ph idx="4294967295"/>
          </p:nvPr>
        </p:nvSpPr>
        <p:spPr>
          <a:xfrm>
            <a:off x="838200" y="1911927"/>
            <a:ext cx="10515600" cy="4265036"/>
          </a:xfrm>
          <a:prstGeom prst="rect">
            <a:avLst/>
          </a:prstGeom>
        </p:spPr>
        <p:txBody>
          <a:bodyPr>
            <a:normAutofit fontScale="92500" lnSpcReduction="20000"/>
          </a:bodyPr>
          <a:lstStyle/>
          <a:p>
            <a:pPr marL="0" indent="0">
              <a:buNone/>
            </a:pPr>
            <a:r>
              <a:rPr lang="en-US" b="1" cap="none" dirty="0" smtClean="0"/>
              <a:t>NOISE</a:t>
            </a:r>
          </a:p>
          <a:p>
            <a:pPr marL="0" indent="0">
              <a:buNone/>
            </a:pPr>
            <a:r>
              <a:rPr lang="en-US" cap="none" dirty="0" smtClean="0"/>
              <a:t>Defined </a:t>
            </a:r>
            <a:r>
              <a:rPr lang="en-US" cap="none" dirty="0" smtClean="0"/>
              <a:t>as an unwanted signals with in the wanted signal.</a:t>
            </a:r>
          </a:p>
          <a:p>
            <a:pPr marL="0" indent="0">
              <a:buNone/>
            </a:pPr>
            <a:r>
              <a:rPr lang="en-US" cap="none" dirty="0" smtClean="0"/>
              <a:t>A)noise whose sources are external to the receiver. </a:t>
            </a:r>
          </a:p>
          <a:p>
            <a:pPr marL="0" indent="0">
              <a:buNone/>
            </a:pPr>
            <a:r>
              <a:rPr lang="en-US" cap="none" dirty="0" smtClean="0"/>
              <a:t>B)noise created within the receiver itself.</a:t>
            </a:r>
          </a:p>
          <a:p>
            <a:pPr marL="0" indent="0" algn="ctr">
              <a:buNone/>
            </a:pPr>
            <a:r>
              <a:rPr lang="en-US" b="1" cap="none" dirty="0" smtClean="0">
                <a:solidFill>
                  <a:schemeClr val="accent3">
                    <a:lumMod val="75000"/>
                  </a:schemeClr>
                </a:solidFill>
              </a:rPr>
              <a:t>A)EXTERNAL NOISE </a:t>
            </a:r>
          </a:p>
          <a:p>
            <a:pPr marL="0" indent="0">
              <a:buNone/>
            </a:pPr>
            <a:r>
              <a:rPr lang="en-US" cap="none" dirty="0" smtClean="0"/>
              <a:t>Noise </a:t>
            </a:r>
            <a:r>
              <a:rPr lang="en-US" cap="none" dirty="0" smtClean="0"/>
              <a:t>created outside the receiver.</a:t>
            </a:r>
          </a:p>
          <a:p>
            <a:pPr marL="0" indent="0">
              <a:buNone/>
            </a:pPr>
            <a:r>
              <a:rPr lang="en-US" b="1" cap="none" dirty="0" smtClean="0"/>
              <a:t>Examples.</a:t>
            </a:r>
          </a:p>
          <a:p>
            <a:pPr marL="0" indent="0">
              <a:buNone/>
            </a:pPr>
            <a:r>
              <a:rPr lang="en-US" cap="none" dirty="0" smtClean="0"/>
              <a:t>Atmospheric.</a:t>
            </a:r>
          </a:p>
          <a:p>
            <a:pPr marL="0" indent="0">
              <a:buNone/>
            </a:pPr>
            <a:r>
              <a:rPr lang="en-US" cap="none" dirty="0" smtClean="0"/>
              <a:t>Extra-terrestrial.</a:t>
            </a:r>
          </a:p>
          <a:p>
            <a:pPr marL="0" indent="0">
              <a:buNone/>
            </a:pPr>
            <a:r>
              <a:rPr lang="en-US" cap="none" dirty="0" smtClean="0"/>
              <a:t>Industrial.</a:t>
            </a:r>
          </a:p>
        </p:txBody>
      </p:sp>
    </p:spTree>
    <p:extLst>
      <p:ext uri="{BB962C8B-B14F-4D97-AF65-F5344CB8AC3E}">
        <p14:creationId xmlns:p14="http://schemas.microsoft.com/office/powerpoint/2010/main" val="39385872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1071738"/>
          </a:xfrm>
        </p:spPr>
        <p:txBody>
          <a:bodyPr/>
          <a:lstStyle/>
          <a:p>
            <a:pPr algn="l"/>
            <a:r>
              <a:rPr lang="en-US" b="1" dirty="0" smtClean="0">
                <a:solidFill>
                  <a:schemeClr val="accent3">
                    <a:lumMod val="75000"/>
                  </a:schemeClr>
                </a:solidFill>
              </a:rPr>
              <a:t>Atmospheric noise.</a:t>
            </a:r>
            <a:endParaRPr lang="en-US" b="1" dirty="0">
              <a:solidFill>
                <a:schemeClr val="accent3">
                  <a:lumMod val="75000"/>
                </a:schemeClr>
              </a:solidFill>
            </a:endParaRPr>
          </a:p>
        </p:txBody>
      </p:sp>
      <p:sp>
        <p:nvSpPr>
          <p:cNvPr id="3" name="Content Placeholder 2"/>
          <p:cNvSpPr>
            <a:spLocks noGrp="1"/>
          </p:cNvSpPr>
          <p:nvPr>
            <p:ph idx="4294967295"/>
          </p:nvPr>
        </p:nvSpPr>
        <p:spPr>
          <a:xfrm>
            <a:off x="838200" y="1825625"/>
            <a:ext cx="10515600" cy="4351338"/>
          </a:xfrm>
          <a:prstGeom prst="rect">
            <a:avLst/>
          </a:prstGeom>
        </p:spPr>
        <p:txBody>
          <a:bodyPr>
            <a:normAutofit/>
          </a:bodyPr>
          <a:lstStyle/>
          <a:p>
            <a:pPr marL="0" indent="0">
              <a:buNone/>
            </a:pPr>
            <a:r>
              <a:rPr lang="en-US" sz="2400" cap="none" dirty="0" smtClean="0"/>
              <a:t>Caused by lightening discharge in thunderstorm and other natural electrical disturbances.</a:t>
            </a:r>
          </a:p>
          <a:p>
            <a:pPr marL="0" indent="0">
              <a:buNone/>
            </a:pPr>
            <a:r>
              <a:rPr lang="en-US" sz="2400" cap="none" dirty="0" smtClean="0"/>
              <a:t>They affect a wide spectrum due to its random nature.</a:t>
            </a:r>
          </a:p>
          <a:p>
            <a:pPr marL="0" indent="0">
              <a:buNone/>
            </a:pPr>
            <a:r>
              <a:rPr lang="en-US" sz="2400" cap="none" dirty="0" smtClean="0"/>
              <a:t>This noise becomes when operated in the vhf(30mhz) or above.</a:t>
            </a:r>
          </a:p>
          <a:p>
            <a:pPr marL="0" indent="0">
              <a:buNone/>
            </a:pPr>
            <a:r>
              <a:rPr lang="en-US" sz="2400" b="1" cap="none" dirty="0" smtClean="0">
                <a:solidFill>
                  <a:schemeClr val="accent3">
                    <a:lumMod val="75000"/>
                  </a:schemeClr>
                </a:solidFill>
              </a:rPr>
              <a:t>EXTRA-TERRESTRIAL NOISE</a:t>
            </a:r>
          </a:p>
          <a:p>
            <a:pPr marL="0" indent="0">
              <a:buNone/>
            </a:pPr>
            <a:r>
              <a:rPr lang="en-US" sz="2400" cap="none" dirty="0" smtClean="0"/>
              <a:t>Solar </a:t>
            </a:r>
            <a:r>
              <a:rPr lang="en-US" sz="2400" cap="none" dirty="0" smtClean="0"/>
              <a:t>noise is from the sun. It can have a temperature exceeding 6000 degree and a such temperature it radiates energy with some noise.</a:t>
            </a:r>
          </a:p>
          <a:p>
            <a:pPr marL="0" indent="0">
              <a:buNone/>
            </a:pPr>
            <a:r>
              <a:rPr lang="en-US" sz="2400" cap="none" dirty="0" smtClean="0"/>
              <a:t>Cosmic is noise from the stars.</a:t>
            </a:r>
            <a:endParaRPr lang="en-US" sz="2400" cap="none" dirty="0"/>
          </a:p>
        </p:txBody>
      </p:sp>
    </p:spTree>
    <p:extLst>
      <p:ext uri="{BB962C8B-B14F-4D97-AF65-F5344CB8AC3E}">
        <p14:creationId xmlns:p14="http://schemas.microsoft.com/office/powerpoint/2010/main" val="4296160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3">
                    <a:lumMod val="75000"/>
                  </a:schemeClr>
                </a:solidFill>
              </a:rPr>
              <a:t>Industrial noise</a:t>
            </a:r>
            <a:endParaRPr lang="en-US" b="1" dirty="0">
              <a:solidFill>
                <a:schemeClr val="accent3">
                  <a:lumMod val="75000"/>
                </a:schemeClr>
              </a:solidFill>
            </a:endParaRPr>
          </a:p>
        </p:txBody>
      </p:sp>
      <p:sp>
        <p:nvSpPr>
          <p:cNvPr id="3" name="Content Placeholder 2"/>
          <p:cNvSpPr>
            <a:spLocks noGrp="1"/>
          </p:cNvSpPr>
          <p:nvPr>
            <p:ph idx="4294967295"/>
          </p:nvPr>
        </p:nvSpPr>
        <p:spPr>
          <a:xfrm>
            <a:off x="838200" y="1825625"/>
            <a:ext cx="10515600" cy="4351338"/>
          </a:xfrm>
          <a:prstGeom prst="rect">
            <a:avLst/>
          </a:prstGeom>
        </p:spPr>
        <p:txBody>
          <a:bodyPr>
            <a:normAutofit/>
          </a:bodyPr>
          <a:lstStyle/>
          <a:p>
            <a:pPr marL="0" indent="0">
              <a:buNone/>
            </a:pPr>
            <a:r>
              <a:rPr lang="en-US" sz="2400" cap="none" dirty="0" smtClean="0"/>
              <a:t>Noise from cars, aircrafts, industrial </a:t>
            </a:r>
            <a:r>
              <a:rPr lang="en-US" sz="2400" cap="none" dirty="0" smtClean="0"/>
              <a:t>machines ,</a:t>
            </a:r>
            <a:r>
              <a:rPr lang="en-US" sz="2400" cap="none" dirty="0" err="1" smtClean="0"/>
              <a:t>etc</a:t>
            </a:r>
            <a:endParaRPr lang="en-US" sz="2400" cap="none" dirty="0" smtClean="0"/>
          </a:p>
          <a:p>
            <a:pPr marL="0" indent="0">
              <a:buNone/>
            </a:pPr>
            <a:r>
              <a:rPr lang="en-US" sz="2400" cap="none" dirty="0" smtClean="0"/>
              <a:t>It can rage from 1 to 600mhz</a:t>
            </a:r>
          </a:p>
          <a:p>
            <a:pPr marL="0" indent="0">
              <a:buNone/>
            </a:pPr>
            <a:r>
              <a:rPr lang="en-US" sz="2400" cap="none" dirty="0" smtClean="0"/>
              <a:t>This noise can be transmitted based on band signals.</a:t>
            </a:r>
          </a:p>
          <a:p>
            <a:pPr marL="0" indent="0" algn="ctr">
              <a:buNone/>
            </a:pPr>
            <a:r>
              <a:rPr lang="en-US" sz="2800" b="1" cap="none" dirty="0" smtClean="0"/>
              <a:t>B)INTERNAL NOISE</a:t>
            </a:r>
          </a:p>
          <a:p>
            <a:pPr marL="0" indent="0">
              <a:buNone/>
            </a:pPr>
            <a:r>
              <a:rPr lang="en-US" sz="2400" cap="none" dirty="0" smtClean="0"/>
              <a:t>Noise </a:t>
            </a:r>
            <a:r>
              <a:rPr lang="en-US" sz="2400" cap="none" dirty="0" smtClean="0"/>
              <a:t>generated inside transmitters, receivers and communication cables.</a:t>
            </a:r>
          </a:p>
          <a:p>
            <a:pPr marL="0" indent="0">
              <a:buNone/>
            </a:pPr>
            <a:r>
              <a:rPr lang="en-US" sz="2400" cap="none" dirty="0" smtClean="0"/>
              <a:t>It’s a function of so many factors such as resistance, bandwidth and temperature.</a:t>
            </a:r>
          </a:p>
          <a:p>
            <a:pPr marL="0" indent="0">
              <a:buNone/>
            </a:pPr>
            <a:r>
              <a:rPr lang="en-US" sz="2400" cap="none" dirty="0" smtClean="0"/>
              <a:t>Far more disturbing is the thermal noise.</a:t>
            </a:r>
          </a:p>
        </p:txBody>
      </p:sp>
    </p:spTree>
    <p:extLst>
      <p:ext uri="{BB962C8B-B14F-4D97-AF65-F5344CB8AC3E}">
        <p14:creationId xmlns:p14="http://schemas.microsoft.com/office/powerpoint/2010/main" val="7358605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360218"/>
            <a:ext cx="10364451" cy="1149927"/>
          </a:xfrm>
        </p:spPr>
        <p:txBody>
          <a:bodyPr/>
          <a:lstStyle/>
          <a:p>
            <a:r>
              <a:rPr lang="en-US" sz="3200" b="1" dirty="0" smtClean="0"/>
              <a:t>Crosstalk</a:t>
            </a:r>
            <a:r>
              <a:rPr lang="en-US" b="1" dirty="0" smtClean="0"/>
              <a:t> </a:t>
            </a:r>
            <a:endParaRPr lang="en-US" b="1" dirty="0"/>
          </a:p>
        </p:txBody>
      </p:sp>
      <p:sp>
        <p:nvSpPr>
          <p:cNvPr id="3" name="Content Placeholder 2"/>
          <p:cNvSpPr>
            <a:spLocks noGrp="1"/>
          </p:cNvSpPr>
          <p:nvPr>
            <p:ph idx="4294967295"/>
          </p:nvPr>
        </p:nvSpPr>
        <p:spPr>
          <a:xfrm>
            <a:off x="838200" y="1371600"/>
            <a:ext cx="10515600" cy="4805363"/>
          </a:xfrm>
          <a:prstGeom prst="rect">
            <a:avLst/>
          </a:prstGeom>
        </p:spPr>
        <p:txBody>
          <a:bodyPr/>
          <a:lstStyle/>
          <a:p>
            <a:pPr marL="0" indent="0">
              <a:buNone/>
            </a:pPr>
            <a:r>
              <a:rPr lang="en-US" sz="2400" cap="none" dirty="0" smtClean="0"/>
              <a:t>Crosstalk is an unwanted couple between signal paths.</a:t>
            </a:r>
          </a:p>
          <a:p>
            <a:pPr marL="0" indent="0">
              <a:buNone/>
            </a:pPr>
            <a:r>
              <a:rPr lang="en-US" sz="2400" cap="none" dirty="0" smtClean="0"/>
              <a:t>It can occur by electrical coupling between nearby twisted pairs</a:t>
            </a:r>
          </a:p>
          <a:p>
            <a:pPr marL="0" indent="0">
              <a:buNone/>
            </a:pPr>
            <a:r>
              <a:rPr lang="en-US" sz="2400" cap="none" dirty="0" smtClean="0"/>
              <a:t>Experienced by anyone who, while using the telephones, has been able to hear another conversation.</a:t>
            </a:r>
          </a:p>
          <a:p>
            <a:pPr marL="0" indent="0" algn="ctr">
              <a:buNone/>
            </a:pPr>
            <a:r>
              <a:rPr lang="en-US" sz="2400" b="1" cap="none" dirty="0" smtClean="0"/>
              <a:t>IMPULSE NOISE.</a:t>
            </a:r>
          </a:p>
          <a:p>
            <a:pPr marL="0" indent="0">
              <a:buNone/>
            </a:pPr>
            <a:r>
              <a:rPr lang="en-US" sz="2400" cap="none" dirty="0" smtClean="0"/>
              <a:t>Non-continuous </a:t>
            </a:r>
            <a:r>
              <a:rPr lang="en-US" sz="2400" cap="none" dirty="0" smtClean="0"/>
              <a:t>noise consisting of irregular pulses or noise spikes of short duration and of relatively high amplitude.</a:t>
            </a:r>
          </a:p>
          <a:p>
            <a:pPr marL="0" indent="0">
              <a:buNone/>
            </a:pPr>
            <a:r>
              <a:rPr lang="en-US" sz="2400" cap="none" dirty="0" smtClean="0"/>
              <a:t>It is generated from a variety of causes.</a:t>
            </a:r>
          </a:p>
          <a:p>
            <a:pPr marL="0" indent="0">
              <a:buNone/>
            </a:pPr>
            <a:r>
              <a:rPr lang="en-US" sz="2400" cap="none" dirty="0" smtClean="0"/>
              <a:t>External electromagnetic disturbances, such as lighting .</a:t>
            </a:r>
          </a:p>
        </p:txBody>
      </p:sp>
    </p:spTree>
    <p:extLst>
      <p:ext uri="{BB962C8B-B14F-4D97-AF65-F5344CB8AC3E}">
        <p14:creationId xmlns:p14="http://schemas.microsoft.com/office/powerpoint/2010/main" val="33082230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38200" y="1825625"/>
            <a:ext cx="10515600" cy="4351338"/>
          </a:xfrm>
          <a:prstGeom prst="rect">
            <a:avLst/>
          </a:prstGeom>
        </p:spPr>
        <p:txBody>
          <a:bodyPr/>
          <a:lstStyle/>
          <a:p>
            <a:pPr marL="0" indent="0">
              <a:buNone/>
            </a:pPr>
            <a:r>
              <a:rPr lang="en-US" sz="4000" cap="none" dirty="0" smtClean="0"/>
              <a:t>Fault and flaws in the communications system.</a:t>
            </a:r>
          </a:p>
          <a:p>
            <a:pPr marL="0" indent="0">
              <a:buNone/>
            </a:pPr>
            <a:r>
              <a:rPr lang="en-US" sz="4000" cap="none" dirty="0" smtClean="0"/>
              <a:t>Impulse noise is generally only a minor annoyance for analog data . </a:t>
            </a:r>
          </a:p>
          <a:p>
            <a:pPr marL="0" indent="0">
              <a:buNone/>
            </a:pPr>
            <a:r>
              <a:rPr lang="en-US" sz="4000" cap="none" dirty="0" smtClean="0"/>
              <a:t>However, impulse noise is primary source of error in digital data</a:t>
            </a:r>
            <a:r>
              <a:rPr lang="en-US" sz="3200" cap="none" dirty="0" smtClean="0"/>
              <a:t>.</a:t>
            </a:r>
          </a:p>
        </p:txBody>
      </p:sp>
    </p:spTree>
    <p:extLst>
      <p:ext uri="{BB962C8B-B14F-4D97-AF65-F5344CB8AC3E}">
        <p14:creationId xmlns:p14="http://schemas.microsoft.com/office/powerpoint/2010/main" val="27160992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cap="none" dirty="0"/>
              <a:t>Intermodulation noise</a:t>
            </a:r>
            <a:r>
              <a:rPr lang="en-US" sz="4800" b="1" dirty="0"/>
              <a:t>.</a:t>
            </a:r>
            <a:br>
              <a:rPr lang="en-US" sz="4800" b="1" dirty="0"/>
            </a:br>
            <a:endParaRPr lang="en-US" sz="4800" dirty="0"/>
          </a:p>
        </p:txBody>
      </p:sp>
      <p:sp>
        <p:nvSpPr>
          <p:cNvPr id="3" name="Content Placeholder 2"/>
          <p:cNvSpPr>
            <a:spLocks noGrp="1"/>
          </p:cNvSpPr>
          <p:nvPr>
            <p:ph sz="quarter" idx="13"/>
          </p:nvPr>
        </p:nvSpPr>
        <p:spPr/>
        <p:txBody>
          <a:bodyPr>
            <a:noAutofit/>
          </a:bodyPr>
          <a:lstStyle/>
          <a:p>
            <a:pPr marL="0" indent="0">
              <a:buNone/>
            </a:pPr>
            <a:r>
              <a:rPr lang="en-US" sz="2800" cap="none" dirty="0" smtClean="0"/>
              <a:t>Noise due to signals of different frequencies sharing the same transmission medium,</a:t>
            </a:r>
          </a:p>
          <a:p>
            <a:pPr marL="0" indent="0">
              <a:buNone/>
            </a:pPr>
            <a:r>
              <a:rPr lang="en-US" sz="2800" cap="none" dirty="0" smtClean="0"/>
              <a:t>The effect of intermodulation noise is to produce signals at a frequency that is the sum or difference of the two original.</a:t>
            </a:r>
          </a:p>
          <a:p>
            <a:pPr marL="0" indent="0">
              <a:buNone/>
            </a:pPr>
            <a:r>
              <a:rPr lang="en-US" sz="2800" cap="none" dirty="0" smtClean="0"/>
              <a:t>This derived signal could interfere with an intended signal at the frequency</a:t>
            </a:r>
          </a:p>
        </p:txBody>
      </p:sp>
    </p:spTree>
    <p:extLst>
      <p:ext uri="{BB962C8B-B14F-4D97-AF65-F5344CB8AC3E}">
        <p14:creationId xmlns:p14="http://schemas.microsoft.com/office/powerpoint/2010/main" val="23682200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996901" y="1080655"/>
            <a:ext cx="10363826" cy="4724399"/>
          </a:xfrm>
        </p:spPr>
        <p:txBody>
          <a:bodyPr/>
          <a:lstStyle/>
          <a:p>
            <a:pPr marL="0" indent="0">
              <a:buNone/>
            </a:pPr>
            <a:r>
              <a:rPr lang="en-US" sz="2400" b="1" cap="none" dirty="0"/>
              <a:t>Noise figure</a:t>
            </a:r>
          </a:p>
          <a:p>
            <a:pPr marL="0" indent="0">
              <a:buNone/>
            </a:pPr>
            <a:r>
              <a:rPr lang="en-US" sz="2400" cap="none" dirty="0" smtClean="0"/>
              <a:t>Signal-to-Noise(S/N</a:t>
            </a:r>
            <a:r>
              <a:rPr lang="en-US" sz="2400" cap="none" dirty="0"/>
              <a:t>) ratio at the </a:t>
            </a:r>
            <a:r>
              <a:rPr lang="en-US" sz="2400" cap="none" dirty="0" smtClean="0"/>
              <a:t>I/P </a:t>
            </a:r>
            <a:r>
              <a:rPr lang="en-US" sz="2400" cap="none" dirty="0"/>
              <a:t>to </a:t>
            </a:r>
            <a:r>
              <a:rPr lang="en-US" sz="2400" cap="none" dirty="0" smtClean="0"/>
              <a:t>S/Nat </a:t>
            </a:r>
            <a:r>
              <a:rPr lang="en-US" sz="2400" cap="none" dirty="0"/>
              <a:t>the </a:t>
            </a:r>
            <a:r>
              <a:rPr lang="en-US" sz="2400" cap="none" dirty="0" smtClean="0"/>
              <a:t>O/P</a:t>
            </a:r>
            <a:endParaRPr lang="en-US" sz="2400" cap="none" dirty="0"/>
          </a:p>
          <a:p>
            <a:pPr marL="0" indent="0">
              <a:buNone/>
            </a:pPr>
            <a:r>
              <a:rPr lang="en-US" sz="2400" cap="none" dirty="0" smtClean="0"/>
              <a:t>Nose </a:t>
            </a:r>
            <a:r>
              <a:rPr lang="en-US" sz="2400" cap="none" dirty="0"/>
              <a:t>figure </a:t>
            </a:r>
            <a:r>
              <a:rPr lang="en-US" sz="2400" cap="none" dirty="0" smtClean="0"/>
              <a:t>F </a:t>
            </a:r>
            <a:r>
              <a:rPr lang="en-US" sz="2400" cap="none" dirty="0"/>
              <a:t>= </a:t>
            </a:r>
            <a:r>
              <a:rPr lang="en-US" sz="2400" cap="none" dirty="0" smtClean="0"/>
              <a:t>(S/N)in/(S/N)out</a:t>
            </a:r>
            <a:endParaRPr lang="en-US" sz="2400" cap="none" dirty="0"/>
          </a:p>
          <a:p>
            <a:pPr marL="0" indent="0">
              <a:buNone/>
            </a:pPr>
            <a:r>
              <a:rPr lang="en-US" sz="2400" cap="none" dirty="0"/>
              <a:t>F is a direct measure of the </a:t>
            </a:r>
            <a:r>
              <a:rPr lang="en-US" sz="2400" cap="none" dirty="0" smtClean="0"/>
              <a:t>S/N </a:t>
            </a:r>
            <a:r>
              <a:rPr lang="en-US" sz="2400" cap="none" dirty="0"/>
              <a:t>ratio degradation caused by the system.</a:t>
            </a:r>
          </a:p>
          <a:p>
            <a:pPr marL="0" indent="0">
              <a:buNone/>
            </a:pPr>
            <a:r>
              <a:rPr lang="en-US" sz="2400" b="1" cap="none" dirty="0"/>
              <a:t>Noise factor</a:t>
            </a:r>
          </a:p>
          <a:p>
            <a:pPr marL="0" indent="0">
              <a:buNone/>
            </a:pPr>
            <a:r>
              <a:rPr lang="en-US" sz="2400" cap="none" dirty="0"/>
              <a:t>Noise figure expressed in decibels</a:t>
            </a:r>
          </a:p>
          <a:p>
            <a:pPr marL="0" indent="0">
              <a:buNone/>
            </a:pPr>
            <a:r>
              <a:rPr lang="en-US" sz="2400" cap="none" dirty="0"/>
              <a:t>NF =</a:t>
            </a:r>
            <a:r>
              <a:rPr lang="en-US" sz="2400" cap="none" dirty="0" smtClean="0"/>
              <a:t>10logf</a:t>
            </a:r>
            <a:endParaRPr lang="en-US" sz="2400" cap="none" dirty="0"/>
          </a:p>
          <a:p>
            <a:pPr marL="0" indent="0">
              <a:buNone/>
            </a:pPr>
            <a:endParaRPr lang="en-US" dirty="0"/>
          </a:p>
        </p:txBody>
      </p:sp>
    </p:spTree>
    <p:extLst>
      <p:ext uri="{BB962C8B-B14F-4D97-AF65-F5344CB8AC3E}">
        <p14:creationId xmlns:p14="http://schemas.microsoft.com/office/powerpoint/2010/main" val="8562969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6*284"/>
  <p:tag name="TABLE_ENDDRAG_RECT" val="49*230*826*284"/>
</p:tagLst>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253</TotalTime>
  <Words>1677</Words>
  <Application>Microsoft Office PowerPoint</Application>
  <PresentationFormat>Widescreen</PresentationFormat>
  <Paragraphs>178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Times New Roman</vt:lpstr>
      <vt:lpstr>Tw Cen MT</vt:lpstr>
      <vt:lpstr>Wingdings</vt:lpstr>
      <vt:lpstr>Droplet</vt:lpstr>
      <vt:lpstr>GROUP WORK ASSIGNMENT  FOR  INTRODUCTION TO COMPUTER NETWORKS  COURSE UNIT: IST 11O4 SEMESTER:1 LECTURER: MALE VINCENT 2026 YEAR: 1 BY GROUP 1</vt:lpstr>
      <vt:lpstr>Guided transmission media</vt:lpstr>
      <vt:lpstr>Qn.1 DIFFERENCE BETWEEN GUIDED AND UNGUIDED TRANSMISSION MEDIA </vt:lpstr>
      <vt:lpstr> Qn.2. Using illustrations, discuss the various types of guided and unguided transmission media </vt:lpstr>
      <vt:lpstr>TWISTED-PAIR CABLE</vt:lpstr>
      <vt:lpstr> Unshielded Versus Shielded Twisted-Pair Cable  </vt:lpstr>
      <vt:lpstr>The most common UTP connector is RJ45  (RJ stands for registered jack)  </vt:lpstr>
      <vt:lpstr>Applications  Twisted-pair cables are used in telephone lines to provide voice and data channels. Local-area networks, such as l0base-t and l00base-t, also use twisted-pair cables. </vt:lpstr>
      <vt:lpstr>The most common type of connector used today is the Bayone-Neill-Concelman (BNE), connector.  </vt:lpstr>
      <vt:lpstr>APPLICATIONS  coaxial cable was widely used in analog telephone networks, digital telephone networks  cable TV networks also use coaxial cables.  Another common application of coaxial cable is in traditional Ethernet lans </vt:lpstr>
      <vt:lpstr>Optical fibers use reflection to guide light through a channel. A glass or plastic core is surrounded by a cladding of less dense glass or plastic. </vt:lpstr>
      <vt:lpstr>Optical fiber cable</vt:lpstr>
      <vt:lpstr>UNGUIDED MEDIA/ WIRELESS </vt:lpstr>
      <vt:lpstr>Unguided signals can travel from the source to destination in several ways: ground propagation, sky propagation, and line-of-sight propagation, as shown in figure radio wave </vt:lpstr>
      <vt:lpstr>PowerPoint Presentation</vt:lpstr>
      <vt:lpstr>PowerPoint Presentation</vt:lpstr>
      <vt:lpstr>Microwaves  Electromagnetic waves having frequencies between 1 and 300 ghz are called microwaves. Microwaves are unidirectional. The sending and receiving antennas need to be aligned. The unidirectional property has an obvious advantage. A pair of antennas can be aligned without interfering with another pair of aligned antennas </vt:lpstr>
      <vt:lpstr>PowerPoint Presentation</vt:lpstr>
      <vt:lpstr>PowerPoint Presentation</vt:lpstr>
      <vt:lpstr>PowerPoint Presentation</vt:lpstr>
      <vt:lpstr>QN.3 DISCUSS THE CRETARIA FOR SELECTING NETWORK TRANSMISION MEDIA.</vt:lpstr>
      <vt:lpstr>PowerPoint Presentation</vt:lpstr>
      <vt:lpstr>PowerPoint Presentation</vt:lpstr>
      <vt:lpstr>PowerPoint Presentation</vt:lpstr>
      <vt:lpstr>PowerPoint Presentation</vt:lpstr>
      <vt:lpstr>QN.4) What is a noise in the network transmission media, discuss the various types of nose in network transmission media.</vt:lpstr>
      <vt:lpstr>Atmospheric noise.</vt:lpstr>
      <vt:lpstr>Industrial noise</vt:lpstr>
      <vt:lpstr>Crosstalk </vt:lpstr>
      <vt:lpstr>PowerPoint Presentation</vt:lpstr>
      <vt:lpstr>Intermodulation noise.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Qtn. 1  Discuss the 7 layers of OSI model specifying the responsibilities for each layer and the protocols that operate at each layer and what they do.</dc:title>
  <dc:creator>USER</dc:creator>
  <cp:lastModifiedBy>THINKPAD</cp:lastModifiedBy>
  <cp:revision>39</cp:revision>
  <dcterms:created xsi:type="dcterms:W3CDTF">2026-09-01T08:52:00Z</dcterms:created>
  <dcterms:modified xsi:type="dcterms:W3CDTF">2026-09-16T07:32:04Z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1FC17F23A0BE4A91AD45A27E23E86622_12</vt:lpwstr>
  </property>
  <property fmtid="{D5CDD505-2E9C-101B-9397-08002B2CF9AE}" pid="3" name="KSOProductBuildVer">
    <vt:lpwstr>2057-12.2.0.23202</vt:lpwstr>
  </property>
</Properties>
</file>