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3"/>
    <p:sldId id="264" r:id="rId4"/>
    <p:sldId id="265" r:id="rId5"/>
    <p:sldId id="266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/>
          </p:nvPr>
        </p:nvSpPr>
        <p:spPr>
          <a:xfrm>
            <a:off x="624840" y="133985"/>
            <a:ext cx="10367645" cy="2504440"/>
          </a:xfrm>
        </p:spPr>
        <p:txBody>
          <a:bodyPr/>
          <a:p>
            <a:pPr algn="ctr"/>
            <a:r>
              <a:rPr lang="en-US" altLang="en-GB" sz="2000" b="1">
                <a:sym typeface="+mn-ea"/>
              </a:rPr>
              <a:t>GROUP WORK ASSIGNMENT</a:t>
            </a:r>
            <a:br>
              <a:rPr lang="en-US" altLang="en-GB" sz="2000" b="1">
                <a:sym typeface="+mn-ea"/>
              </a:rPr>
            </a:br>
            <a:r>
              <a:rPr lang="en-US" altLang="en-GB" sz="2000" b="1">
                <a:sym typeface="+mn-ea"/>
              </a:rPr>
              <a:t> FOR  INTRODUCTION TO COMPUTER NETWORKS </a:t>
            </a:r>
            <a:br>
              <a:rPr lang="en-US" altLang="en-GB" sz="2000">
                <a:sym typeface="+mn-ea"/>
              </a:rPr>
            </a:br>
            <a:r>
              <a:rPr lang="en-US" altLang="en-GB" sz="2000" b="1" dirty="0">
                <a:sym typeface="+mn-ea"/>
              </a:rPr>
              <a:t>COURSE UNIT: IST 11O4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SEMESTER:1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LECTURER: MALE VINCENT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2026 YEAR: 1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>
                <a:sym typeface="+mn-ea"/>
              </a:rPr>
              <a:t>BY GROUP 1</a:t>
            </a:r>
            <a:endParaRPr lang="en-GB" altLang="en-US" sz="2000"/>
          </a:p>
        </p:txBody>
      </p:sp>
      <p:sp>
        <p:nvSpPr>
          <p:cNvPr id="5" name="Subtit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624840" y="2828290"/>
          <a:ext cx="10502265" cy="3707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755"/>
                <a:gridCol w="3500755"/>
                <a:gridCol w="3500755"/>
              </a:tblGrid>
              <a:tr h="504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NAME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REGESTRATION NO.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STUDENT NO:</a:t>
                      </a:r>
                      <a:endParaRPr lang="en-US" altLang="en-GB" sz="150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AINEBYONA VICTOR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26/U/04227/PSA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 dirty="0">
                          <a:sym typeface="+mn-ea"/>
                        </a:rPr>
                        <a:t>2600703692</a:t>
                      </a:r>
                      <a:endParaRPr lang="en-US" altLang="en-GB" sz="1500" dirty="0"/>
                    </a:p>
                    <a:p>
                      <a:pPr>
                        <a:buNone/>
                      </a:pPr>
                      <a:endParaRPr lang="en-US" altLang="en-GB" sz="1500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ACHUDA FREDRICK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26/U/29544/PSA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2600729544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AKAMPURIRA IAN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26/U/03698/PS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 dirty="0">
                          <a:sym typeface="+mn-ea"/>
                        </a:rPr>
                        <a:t>2600703698</a:t>
                      </a:r>
                      <a:endParaRPr lang="en-US" altLang="en-GB" sz="1500" dirty="0"/>
                    </a:p>
                    <a:p>
                      <a:pPr>
                        <a:buNone/>
                      </a:pPr>
                      <a:endParaRPr lang="en-US" altLang="en-GB" sz="1500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ODOI VINCENT 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26/U/30208/PS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2600730208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</a:tr>
              <a:tr h="504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ABOKU GEORGE PHILIP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26/U/03678/PSA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2600703678</a:t>
                      </a:r>
                      <a:endParaRPr lang="en-US" altLang="en-GB" sz="1500"/>
                    </a:p>
                  </a:txBody>
                  <a:tcPr/>
                </a:tc>
              </a:tr>
              <a:tr h="5041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WAMANGA SHAMIHA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26/U/04227/PS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2600704227</a:t>
                      </a:r>
                      <a:endParaRPr lang="en-US" altLang="en-GB" sz="15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/>
          </p:nvPr>
        </p:nvSpPr>
        <p:spPr/>
        <p:txBody>
          <a:bodyPr/>
          <a:p>
            <a:pPr algn="ctr"/>
            <a:r>
              <a:rPr lang="en-US" altLang="en-GB" b="1"/>
              <a:t>NETWORK MODELS</a:t>
            </a:r>
            <a:endParaRPr lang="en-US" altLang="en-GB" b="1"/>
          </a:p>
        </p:txBody>
      </p:sp>
      <p:sp>
        <p:nvSpPr>
          <p:cNvPr id="5" name="Subtit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pPr algn="l"/>
            <a:r>
              <a:rPr lang="en-US" altLang="en-GB"/>
              <a:t>They are basically two network models</a:t>
            </a:r>
            <a:endParaRPr lang="en-US" altLang="en-GB"/>
          </a:p>
          <a:p>
            <a:pPr marL="514350" indent="-514350" algn="l">
              <a:buFont typeface="+mj-lt"/>
              <a:buAutoNum type="arabicPeriod"/>
            </a:pPr>
            <a:r>
              <a:rPr lang="en-US" altLang="en-GB" b="1"/>
              <a:t>OSI model</a:t>
            </a:r>
            <a:endParaRPr lang="en-US" altLang="en-GB" b="1"/>
          </a:p>
          <a:p>
            <a:pPr marL="514350" indent="-514350" algn="l">
              <a:buFont typeface="+mj-lt"/>
              <a:buAutoNum type="arabicPeriod"/>
            </a:pPr>
            <a:r>
              <a:rPr lang="en-US" altLang="en-GB" b="1"/>
              <a:t>TCP/IP model</a:t>
            </a:r>
            <a:endParaRPr lang="en-US" altLang="en-GB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14:prism/>
      </p:transition>
    </mc:Choice>
    <mc:Fallback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OSI(OPEN SYSTEM INTERCONNECTION) MODEL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    This was based on the propsal by the </a:t>
            </a:r>
            <a:r>
              <a:rPr lang="en-US" altLang="en-GB" b="1"/>
              <a:t>ISO( international Standards Organisation.) (19   )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  Then revised in 1995 from ISO to OSI model because it deals with connecting open systems that is to say the systems are open for communication with other systems.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</a:t>
            </a:r>
            <a:r>
              <a:rPr lang="en-US" altLang="en-GB">
                <a:sym typeface="+mn-ea"/>
              </a:rPr>
              <a:t>The model has seven layers.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</a:t>
            </a:r>
            <a:r>
              <a:rPr lang="en-US" altLang="en-GB"/>
              <a:t>The OSI model also tell what each layer should do.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402080"/>
          </a:xfrm>
        </p:spPr>
        <p:txBody>
          <a:bodyPr/>
          <a:p>
            <a:r>
              <a:rPr lang="en-US" altLang="en-GB" b="1">
                <a:sym typeface="+mn-ea"/>
              </a:rPr>
              <a:t>PRINCIPLES THAT WERE APPLIED TO ARRIVE TO THE SEVEN LAYERS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2580"/>
            <a:ext cx="10972800" cy="4682490"/>
          </a:xfrm>
        </p:spPr>
        <p:txBody>
          <a:bodyPr/>
          <a:p>
            <a:pPr marL="514350" indent="-514350">
              <a:buFont typeface="+mj-lt"/>
              <a:buAutoNum type="arabicPeriod"/>
            </a:pPr>
            <a:r>
              <a:rPr lang="en-US" altLang="en-GB" sz="2800"/>
              <a:t>A layer should be created where a different abstraction(simplification) is needed.</a:t>
            </a:r>
            <a:endParaRPr lang="en-US" altLang="en-GB" sz="2800"/>
          </a:p>
          <a:p>
            <a:pPr marL="514350" indent="-514350">
              <a:buFont typeface="+mj-lt"/>
              <a:buAutoNum type="arabicPeriod"/>
            </a:pPr>
            <a:r>
              <a:rPr lang="en-US" altLang="en-GB" sz="2800"/>
              <a:t>Each layer should perfom a well defined function.</a:t>
            </a:r>
            <a:endParaRPr lang="en-US" altLang="en-GB" sz="2800"/>
          </a:p>
          <a:p>
            <a:pPr marL="514350" indent="-514350">
              <a:buFont typeface="+mj-lt"/>
              <a:buAutoNum type="arabicPeriod"/>
            </a:pPr>
            <a:r>
              <a:rPr lang="en-US" altLang="en-GB" sz="2800"/>
              <a:t>The function of each layer should be chosen with an eye to ward defining internationally standardised protocols.</a:t>
            </a:r>
            <a:endParaRPr lang="en-US" altLang="en-GB" sz="2800"/>
          </a:p>
          <a:p>
            <a:pPr marL="514350" indent="-514350">
              <a:buFont typeface="+mj-lt"/>
              <a:buAutoNum type="arabicPeriod"/>
            </a:pPr>
            <a:r>
              <a:rPr lang="en-US" altLang="en-GB" sz="2800"/>
              <a:t>The boundaries should minimise the information flow across the interfaces</a:t>
            </a:r>
            <a:endParaRPr lang="en-US" altLang="en-GB" sz="2800"/>
          </a:p>
          <a:p>
            <a:pPr marL="514350" indent="-514350">
              <a:buFont typeface="+mj-lt"/>
              <a:buAutoNum type="arabicPeriod"/>
            </a:pPr>
            <a:r>
              <a:rPr lang="en-US" altLang="en-GB" sz="2800"/>
              <a:t>The number of layers should be large enough that distinct functions need not to be thrown together but small enough that the architecture does not become too big.  </a:t>
            </a:r>
            <a:endParaRPr lang="en-US" altLang="en-GB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7960"/>
            <a:ext cx="10972800" cy="10369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Physical Layer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889635"/>
            <a:ext cx="10972800" cy="5636895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sz="8800" dirty="0" smtClean="0"/>
              <a:t>This is the first and  oldest layer of the OSI model.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 smtClean="0"/>
              <a:t>  Its responsible for converting and transmitting raw binary data bits(0s and1s) across a physical network medium.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 smtClean="0"/>
              <a:t> Sends individial raw data bits from one node to another with out interpreting their meanig.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 smtClean="0"/>
              <a:t> It also converts digital bits into electrical voltages, light pulses or radio frequency waves.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 smtClean="0"/>
              <a:t>manages the transmission speed (bit rate) and clock synchronization between the sender an reciever.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 smtClean="0"/>
              <a:t>controls how data flows across the medium using simplex, half-duplex and full duplex.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 smtClean="0"/>
              <a:t>Also defines how physical devices are arranged, such as in star ,bus, and many others</a:t>
            </a:r>
            <a:endParaRPr lang="en-US" sz="8800" dirty="0" smtClean="0"/>
          </a:p>
          <a:p>
            <a:pPr>
              <a:buFont typeface="Wingdings" panose="05000000000000000000" charset="0"/>
              <a:buChar char="Ø"/>
            </a:pPr>
            <a:r>
              <a:rPr lang="en-US" sz="8800" dirty="0"/>
              <a:t>The standard protocols are governed by specifications in the Cable standards(Ethernet), wireless standards(wifi , bluetooth), and fiber optic standards.  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Link Layer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dirty="0" smtClean="0"/>
              <a:t>It is the layer 2 in the OSI model.</a:t>
            </a:r>
            <a:endParaRPr lang="en-US" dirty="0" smtClean="0"/>
          </a:p>
          <a:p>
            <a:pPr>
              <a:buFont typeface="Wingdings" panose="05000000000000000000" charset="0"/>
              <a:buChar char="Ø"/>
            </a:pPr>
            <a:r>
              <a:rPr lang="en-US" dirty="0" smtClean="0"/>
              <a:t>Is </a:t>
            </a:r>
            <a:r>
              <a:rPr lang="en-US" dirty="0"/>
              <a:t>responsible for  node to node data delivery and error free transfer between directly connected devices on the same local network.</a:t>
            </a:r>
            <a:endParaRPr lang="en-US" dirty="0"/>
          </a:p>
          <a:p>
            <a:pPr>
              <a:buFont typeface="Wingdings" panose="05000000000000000000" charset="0"/>
              <a:buChar char="Ø"/>
            </a:pPr>
            <a:r>
              <a:rPr lang="en-US" dirty="0" smtClean="0"/>
              <a:t>Can </a:t>
            </a:r>
            <a:r>
              <a:rPr lang="en-US" dirty="0"/>
              <a:t>move ecapsulates packets( frames) from one adjacent computer to another, cannot move frames across routers </a:t>
            </a:r>
            <a:endParaRPr lang="en-US" dirty="0"/>
          </a:p>
          <a:p>
            <a:pPr>
              <a:buFont typeface="Wingdings" panose="05000000000000000000" charset="0"/>
              <a:buChar char="Ø"/>
            </a:pPr>
            <a:r>
              <a:rPr lang="en-US" dirty="0" smtClean="0"/>
              <a:t> Requires </a:t>
            </a:r>
            <a:r>
              <a:rPr lang="en-US" dirty="0"/>
              <a:t>MAC address or physical address </a:t>
            </a:r>
            <a:endParaRPr lang="en-US" dirty="0"/>
          </a:p>
          <a:p>
            <a:pPr>
              <a:buFont typeface="Wingdings" panose="05000000000000000000" charset="0"/>
              <a:buChar char="Ø"/>
            </a:pPr>
            <a:r>
              <a:rPr lang="en-US" dirty="0"/>
              <a:t>Detects and corrects transimission errors using techniques like Cyclic Redundancy check(CRC) in Frame Check Sequence(FCS)</a:t>
            </a:r>
            <a:endParaRPr lang="en-US" dirty="0"/>
          </a:p>
          <a:p>
            <a:pPr>
              <a:buFont typeface="Wingdings" panose="05000000000000000000" charset="0"/>
              <a:buChar char="Ø"/>
            </a:pPr>
            <a:r>
              <a:rPr lang="en-US" dirty="0" smtClean="0"/>
              <a:t>Protocols </a:t>
            </a:r>
            <a:r>
              <a:rPr lang="en-US" dirty="0"/>
              <a:t>defined include Ethernet Protocol and Point-to-Point Protocol (PPP)</a:t>
            </a:r>
            <a:endParaRPr lang="en-US" dirty="0"/>
          </a:p>
          <a:p>
            <a:pPr>
              <a:buFont typeface="Wingdings" panose="05000000000000000000" charset="0"/>
              <a:buChar char="Ø"/>
            </a:pPr>
            <a:r>
              <a:rPr lang="en-US" dirty="0" smtClean="0"/>
              <a:t>Device </a:t>
            </a:r>
            <a:r>
              <a:rPr lang="en-US" dirty="0"/>
              <a:t>example: Switch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/>
              <a:t>SUB LAYERS OF DATA LINK LAYER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These include; Logical </a:t>
            </a:r>
            <a:r>
              <a:rPr lang="en-US" dirty="0"/>
              <a:t>Link Control (LLC) and the Media Access Control (MAC)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smtClean="0"/>
              <a:t>Logical </a:t>
            </a:r>
            <a:r>
              <a:rPr lang="en-US" b="1" dirty="0"/>
              <a:t>Link Control (LLC</a:t>
            </a:r>
            <a:r>
              <a:rPr lang="en-US" dirty="0"/>
              <a:t>)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 </a:t>
            </a:r>
            <a:r>
              <a:rPr lang="en-US" dirty="0" smtClean="0"/>
              <a:t>Data </a:t>
            </a:r>
            <a:r>
              <a:rPr lang="en-US" dirty="0"/>
              <a:t>Link layer addressing, flow control, address notification, error control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</a:t>
            </a:r>
            <a:r>
              <a:rPr lang="en-US" b="1" dirty="0"/>
              <a:t>Media Access Control (MAC)</a:t>
            </a:r>
            <a:r>
              <a:rPr lang="en-US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 </a:t>
            </a:r>
            <a:r>
              <a:rPr lang="en-US" dirty="0" smtClean="0"/>
              <a:t>Determines </a:t>
            </a:r>
            <a:r>
              <a:rPr lang="en-US" dirty="0"/>
              <a:t>which computer has access to the network media at any given time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 </a:t>
            </a:r>
            <a:r>
              <a:rPr lang="en-US" dirty="0" smtClean="0"/>
              <a:t>Determines </a:t>
            </a:r>
            <a:r>
              <a:rPr lang="en-US" dirty="0"/>
              <a:t>where one frame ends and the next one starts, called frame synchronization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Network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 </a:t>
            </a:r>
            <a:r>
              <a:rPr lang="en-US" sz="3200" dirty="0"/>
              <a:t>Responsible for moving packets (data) from one end of the network to the other, called end-to-end communications </a:t>
            </a:r>
            <a:endParaRPr lang="en-US" sz="3200" dirty="0"/>
          </a:p>
          <a:p>
            <a:r>
              <a:rPr lang="en-US" sz="3200" dirty="0" smtClean="0"/>
              <a:t>Requires </a:t>
            </a:r>
            <a:r>
              <a:rPr lang="en-US" sz="3200" dirty="0"/>
              <a:t>logical addresses such as IP addresses </a:t>
            </a:r>
            <a:endParaRPr lang="en-US" sz="3200" dirty="0"/>
          </a:p>
          <a:p>
            <a:r>
              <a:rPr lang="en-US" sz="3200" dirty="0" smtClean="0"/>
              <a:t>Device </a:t>
            </a:r>
            <a:r>
              <a:rPr lang="en-US" sz="3200" dirty="0"/>
              <a:t>example: Router</a:t>
            </a:r>
            <a:endParaRPr lang="en-US" sz="3200" dirty="0"/>
          </a:p>
          <a:p>
            <a:r>
              <a:rPr lang="en-US" sz="3200" dirty="0"/>
              <a:t> </a:t>
            </a:r>
            <a:r>
              <a:rPr lang="en-US" sz="3200" dirty="0" smtClean="0"/>
              <a:t>Routing </a:t>
            </a:r>
            <a:r>
              <a:rPr lang="en-US" sz="3200" dirty="0"/>
              <a:t>is the ability of various network devices and their related software to move data packets from source to destination 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830"/>
            <a:ext cx="10515600" cy="858175"/>
          </a:xfrm>
        </p:spPr>
        <p:txBody>
          <a:bodyPr/>
          <a:lstStyle/>
          <a:p>
            <a:pPr algn="ctr"/>
            <a:r>
              <a:rPr lang="en-US" b="1" dirty="0"/>
              <a:t>Transport Layer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981005"/>
            <a:ext cx="10515600" cy="5488034"/>
          </a:xfrm>
        </p:spPr>
        <p:txBody>
          <a:bodyPr>
            <a:noAutofit/>
          </a:bodyPr>
          <a:lstStyle/>
          <a:p>
            <a:r>
              <a:rPr lang="en-US" sz="2400" dirty="0" smtClean="0"/>
              <a:t> </a:t>
            </a:r>
            <a:r>
              <a:rPr lang="en-US" sz="2400" dirty="0"/>
              <a:t>Takes data from higher levels of OSI Model and breaks it into segments that can be sent to lower-level layers for data transmission</a:t>
            </a:r>
            <a:endParaRPr lang="en-US" sz="2400" dirty="0"/>
          </a:p>
          <a:p>
            <a:r>
              <a:rPr lang="en-US" sz="2400" dirty="0"/>
              <a:t> </a:t>
            </a:r>
            <a:r>
              <a:rPr lang="en-US" sz="2400" dirty="0" smtClean="0"/>
              <a:t>Conversely</a:t>
            </a:r>
            <a:r>
              <a:rPr lang="en-US" sz="2400" dirty="0"/>
              <a:t>, reassembles data segments into data that higher-level protocols and applications can use </a:t>
            </a:r>
            <a:endParaRPr lang="en-US" sz="2400" dirty="0"/>
          </a:p>
          <a:p>
            <a:r>
              <a:rPr lang="en-US" sz="2400" dirty="0">
                <a:sym typeface="Symbol" panose="05050102010706020507" pitchFamily="18" charset="2"/>
              </a:rPr>
              <a:t></a:t>
            </a:r>
            <a:r>
              <a:rPr lang="en-US" sz="2400" dirty="0"/>
              <a:t> Also puts segments in correct order (called sequencing ) so they can be reassembled in correct order at destination</a:t>
            </a:r>
            <a:endParaRPr lang="en-US" sz="2400" dirty="0"/>
          </a:p>
          <a:p>
            <a:r>
              <a:rPr lang="en-US" sz="2400" dirty="0" smtClean="0"/>
              <a:t> </a:t>
            </a:r>
            <a:r>
              <a:rPr lang="en-US" sz="2400" dirty="0"/>
              <a:t>Concerned with the reliability of the transport of sent data </a:t>
            </a:r>
            <a:endParaRPr lang="en-US" sz="2400" dirty="0"/>
          </a:p>
          <a:p>
            <a:r>
              <a:rPr lang="en-US" sz="2400" dirty="0" smtClean="0"/>
              <a:t> </a:t>
            </a:r>
            <a:r>
              <a:rPr lang="en-US" sz="2400" dirty="0"/>
              <a:t>May use a connection-oriented protocol such as TCP to ensure destination received segments </a:t>
            </a:r>
            <a:endParaRPr lang="en-US" sz="2400" dirty="0"/>
          </a:p>
          <a:p>
            <a:r>
              <a:rPr lang="en-US" sz="2400" dirty="0" smtClean="0"/>
              <a:t>May </a:t>
            </a:r>
            <a:r>
              <a:rPr lang="en-US" sz="2400" dirty="0"/>
              <a:t>use a connectionless protocol such as UDP to send segments without assurance of delivery </a:t>
            </a:r>
            <a:endParaRPr lang="en-US" sz="2400" dirty="0"/>
          </a:p>
          <a:p>
            <a:r>
              <a:rPr lang="en-US" sz="2400" dirty="0" smtClean="0"/>
              <a:t>Uses </a:t>
            </a:r>
            <a:r>
              <a:rPr lang="en-US" sz="2400" dirty="0"/>
              <a:t>port addressing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Session Layer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 smtClean="0"/>
              <a:t>Responsible </a:t>
            </a:r>
            <a:r>
              <a:rPr lang="en-US" sz="3200" dirty="0"/>
              <a:t>for managing the dialog between networked devices </a:t>
            </a:r>
            <a:endParaRPr lang="en-US" sz="3200" dirty="0"/>
          </a:p>
          <a:p>
            <a:r>
              <a:rPr lang="en-US" sz="3200" dirty="0" smtClean="0"/>
              <a:t>Establishes</a:t>
            </a:r>
            <a:r>
              <a:rPr lang="en-US" sz="3200" dirty="0"/>
              <a:t>, manages, and terminates connections </a:t>
            </a:r>
            <a:endParaRPr lang="en-US" sz="3200" dirty="0"/>
          </a:p>
          <a:p>
            <a:r>
              <a:rPr lang="en-US" sz="3200" dirty="0" smtClean="0"/>
              <a:t>Provides </a:t>
            </a:r>
            <a:r>
              <a:rPr lang="en-US" sz="3200" dirty="0"/>
              <a:t>duplex, half-duplex, or simplex communications between devices </a:t>
            </a:r>
            <a:endParaRPr lang="en-US" sz="3200" dirty="0"/>
          </a:p>
          <a:p>
            <a:r>
              <a:rPr lang="en-US" sz="3200" dirty="0" smtClean="0"/>
              <a:t>Provides </a:t>
            </a:r>
            <a:r>
              <a:rPr lang="en-US" sz="3200" dirty="0"/>
              <a:t>procedures for establishing checkpoints, adjournment, termination, and restart or recovery procedures 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36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Presentation Layer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This is concerned </a:t>
            </a:r>
            <a:r>
              <a:rPr lang="en-US" dirty="0"/>
              <a:t>with how data is presented to the network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This handles </a:t>
            </a:r>
            <a:r>
              <a:rPr lang="en-US" dirty="0"/>
              <a:t>three primary tasks: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Translation; this changes data so that another computer can understand it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Compression; this makes data smaller to send more data in the same amount of time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Encryption; Encodes data to protect from interception or eavesdropping.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88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Application Layer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Contains </a:t>
            </a:r>
            <a:r>
              <a:rPr lang="en-US" dirty="0"/>
              <a:t>all services or protocols needed by application software or operating system to communicate on the </a:t>
            </a:r>
            <a:r>
              <a:rPr lang="en-US" dirty="0" smtClean="0"/>
              <a:t>network.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Examples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 Firefox </a:t>
            </a:r>
            <a:r>
              <a:rPr lang="en-US" dirty="0"/>
              <a:t>web browser uses HTTP (Hyper-Text Transport Protocol) 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E-mail </a:t>
            </a:r>
            <a:r>
              <a:rPr lang="en-US" dirty="0"/>
              <a:t>program may use POP3 (Post Office Protocol version 3) to read e-mails and SMTP (Simple Mail Transport Protocol) to send e-mails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n-GB" b="1"/>
              <a:t>TRANSMISSION CONTROL PROTOCOL/INTERNET PROTOCOL</a:t>
            </a:r>
            <a:endParaRPr lang="en-US" altLang="en-GB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GB" sz="7200" b="1"/>
              <a:t>TCP/IP</a:t>
            </a:r>
            <a:endParaRPr lang="en-US" altLang="en-GB"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800" b="1"/>
              <a:t>TCP/IP</a:t>
            </a:r>
            <a:endParaRPr lang="en-US" altLang="en-GB" sz="4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Consists  of  4 major  layers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Network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Internent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Transport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Application layer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NETWORK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/>
              <a:t>Responsible</a:t>
            </a:r>
            <a:r>
              <a:rPr lang="en-US" altLang="en-GB"/>
              <a:t> for transmiting data over the physical network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Hardles hardware addressing and error detection.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Combines the functions of the phyiscal and data link layer of the OSI model.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PROTOCOLS;</a:t>
            </a:r>
            <a:r>
              <a:rPr lang="en-US" altLang="en-GB" b="1"/>
              <a:t>Ethernet:</a:t>
            </a:r>
            <a:r>
              <a:rPr lang="en-US" altLang="en-GB"/>
              <a:t> connects devices via physical media.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                      </a:t>
            </a:r>
            <a:r>
              <a:rPr lang="en-US" altLang="en-GB" b="1"/>
              <a:t>WiFi: </a:t>
            </a:r>
            <a:r>
              <a:rPr lang="en-US" altLang="en-GB">
                <a:sym typeface="+mn-ea"/>
              </a:rPr>
              <a:t>connects devices via wireless media.</a:t>
            </a:r>
            <a:endParaRPr lang="en-US" altLang="en-GB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INTERNET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Responsible</a:t>
            </a:r>
            <a:r>
              <a:rPr lang="en-US" altLang="en-GB"/>
              <a:t> for logical adressing and routing of pockets between networks.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Determines the best path for data transmission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b="1"/>
              <a:t>Protocals</a:t>
            </a:r>
            <a:r>
              <a:rPr lang="en-US" altLang="en-GB"/>
              <a:t>:IP(IPV4/IPV6) Aids in locating the devices via internet. 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TRANSPORT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Provides end to end communications  between devices.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Ensures reliable and fast data delivery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Performs segmentation flow controls and error recovery 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Protocols; TCP </a:t>
            </a:r>
            <a:r>
              <a:rPr lang="en-US" altLang="en-GB"/>
              <a:t>ensures reliable conection oriented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</a:t>
            </a:r>
            <a:r>
              <a:rPr lang="en-US" altLang="en-GB" b="1"/>
              <a:t> UDP </a:t>
            </a:r>
            <a:r>
              <a:rPr lang="en-US" altLang="en-GB"/>
              <a:t>ensures faster connections.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APPLICATION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Provides network services directely to user applications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Allows users to access network resources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Protocols :HTTP, HTTPs DNS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SIMILARITIES 0SI AND TCP/IP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Both use layers to organise network communication</a:t>
            </a:r>
            <a:endParaRPr lang="en-US" altLang="en-GB"/>
          </a:p>
          <a:p>
            <a:r>
              <a:rPr lang="en-US" altLang="en-GB"/>
              <a:t>Both have Application, Transport and Network communication</a:t>
            </a:r>
            <a:endParaRPr lang="en-US" altLang="en-GB"/>
          </a:p>
          <a:p>
            <a:r>
              <a:rPr lang="en-US" altLang="en-GB"/>
              <a:t>Both describe how data move from one.</a:t>
            </a:r>
            <a:endParaRPr lang="en-US" altLang="en-GB"/>
          </a:p>
          <a:p>
            <a:r>
              <a:rPr lang="en-US" altLang="en-GB"/>
              <a:t>Both help with network design , trouble shooting and understand protocols.</a:t>
            </a:r>
            <a:endParaRPr lang="en-US" altLang="en-GB"/>
          </a:p>
          <a:p>
            <a:r>
              <a:rPr lang="en-US" altLang="en-GB"/>
              <a:t>The transport layer in both models provides end to end communication.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DIFFERENCES BETWEEN OSI AND TCP/IP</a:t>
            </a:r>
            <a:endParaRPr lang="en-US" altLang="en-GB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44930" y="1824990"/>
          <a:ext cx="981583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7915"/>
                <a:gridCol w="4907915"/>
              </a:tblGrid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OSI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TCP/IP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Has 7 layers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Has 4 layers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Separates application pressentation annd session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Combines them into the application layer.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Separates physical and data link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Combines them into Network.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Primarily a conceptual model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Protocol architecture used by the internet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Designed as a general network refference frame work.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envolved from the protocols used to build interconnected networks.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826*284"/>
  <p:tag name="TABLE_ENDDRAG_RECT" val="49*230*826*284"/>
</p:tagLst>
</file>

<file path=ppt/tags/tag2.xml><?xml version="1.0" encoding="utf-8"?>
<p:tagLst xmlns:p="http://schemas.openxmlformats.org/presentationml/2006/main">
  <p:tag name="TABLE_ENDDRAG_ORIGIN_RECT" val="772*303"/>
  <p:tag name="TABLE_ENDDRAG_RECT" val="105*143*772*303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6909</Words>
  <Application>WPS Presentation</Application>
  <PresentationFormat>Widescreen</PresentationFormat>
  <Paragraphs>225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Symbol</vt:lpstr>
      <vt:lpstr>Gear Drives</vt:lpstr>
      <vt:lpstr>PowerPoint 演示文稿</vt:lpstr>
      <vt:lpstr>PowerPoint 演示文稿</vt:lpstr>
      <vt:lpstr>PowerPoint 演示文稿</vt:lpstr>
      <vt:lpstr>PowerPoint 演示文稿</vt:lpstr>
      <vt:lpstr>Physical Layer </vt:lpstr>
      <vt:lpstr>Data Link Layer </vt:lpstr>
      <vt:lpstr> SUB LAYERS OF DATA LINK LAYER</vt:lpstr>
      <vt:lpstr>Network Layer</vt:lpstr>
      <vt:lpstr>Transport Layer </vt:lpstr>
      <vt:lpstr>Session Layer </vt:lpstr>
      <vt:lpstr>Presentation Layer  </vt:lpstr>
      <vt:lpstr>Application Layer </vt:lpstr>
      <vt:lpstr>TRANSMISSION CONTROL PROTOCOL/INTERNET PROTOCOL</vt:lpstr>
      <vt:lpstr>TCP/IP</vt:lpstr>
      <vt:lpstr>NETWORK LAYER</vt:lpstr>
      <vt:lpstr>INTERNET LAYER</vt:lpstr>
      <vt:lpstr>TRANSPORT LAYER</vt:lpstr>
      <vt:lpstr>APPLICATION LAYER</vt:lpstr>
      <vt:lpstr>SIMILARITIES 0SI AND TCP/IP</vt:lpstr>
      <vt:lpstr>DIFFERENCES BETWEEN OSI AND TCP/IP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Ainector grayt</cp:lastModifiedBy>
  <cp:revision>10</cp:revision>
  <dcterms:created xsi:type="dcterms:W3CDTF">2025-07-23T00:59:00Z</dcterms:created>
  <dcterms:modified xsi:type="dcterms:W3CDTF">2026-09-02T04:09:00Z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44D8767D38EA47FCBA70B7845CDA0932_12</vt:lpwstr>
  </property>
  <property fmtid="{D5CDD505-2E9C-101B-9397-08002B2CF9AE}" pid="3" name="KSOProductBuildVer">
    <vt:lpwstr>2057-12.2.0.23202</vt:lpwstr>
  </property>
</Properties>
</file>